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omments/modernComment_109_61FDB09.xml" ContentType="application/vnd.ms-powerpoint.comments+xml"/>
  <Override PartName="/ppt/comments/modernComment_10B_DFD1E4D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E7871E-651C-EC84-4CF3-95167797C51A}" name="JAENES ESTEBAN, ESPERANZA" initials="EJ" userId="S::espjaeest@alu.edu.gva.es::db5250f1-6c73-42d1-8cb8-2c87044b02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2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omments/modernComment_10B_DFD1E4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0207D3-35DA-4156-849D-DDFB82C6773C}" authorId="{10E7871E-651C-EC84-4CF3-95167797C51A}" created="2025-09-17T16:47:49.073">
    <pc:sldMkLst xmlns:pc="http://schemas.microsoft.com/office/powerpoint/2013/main/command">
      <pc:docMk/>
      <pc:sldMk cId="3755074782" sldId="267"/>
    </pc:sldMkLst>
    <p188:txBody>
      <a:bodyPr/>
      <a:lstStyle/>
      <a:p>
        <a:r>
          <a:rPr lang="es-ES"/>
          <a:t>En resumen, un framework te da una base y organización para construir una aplicación completa y controla el flujo del programa, mientras que una librería es una herramienta que usas para ayudarse en tareas concretas sin imponer estructura sobre tu proyecto</a:t>
        </a:r>
      </a:p>
    </p188:txBody>
  </p188:cm>
</p188:cmLst>
</file>

<file path=ppt/comments/modernComment_109_61FDB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CBB58D-0A79-4C3E-92EB-8CFC81C61321}" authorId="{10E7871E-651C-EC84-4CF3-95167797C51A}" created="2025-09-17T16:45:45.949">
    <pc:sldMkLst xmlns:pc="http://schemas.microsoft.com/office/powerpoint/2013/main/command">
      <pc:docMk/>
      <pc:sldMk cId="102750985" sldId="265"/>
    </pc:sldMkLst>
    <p188:txBody>
      <a:bodyPr/>
      <a:lstStyle/>
      <a:p>
        <a:r>
          <a:rPr lang="es-ES"/>
          <a:t>Código PHP: PHP es un lenguaje que se ejecuta en el servidor, es decir, el código se procesa antes de que la página llegue al navegador; el usuario solo ve el resultado final, no el código PHP.
Se inserta normalmente dentro de páginas HTML usando las etiquetas especiales &lt;?php y ?&gt;.
Es de código abierto, lo que significa que cualquiera puede usarlo y modificarlo sin pagar una licencia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acances.com/portugal.php" TargetMode="External"/><Relationship Id="rId2" Type="http://schemas.microsoft.com/office/2018/10/relationships/comments" Target="../comments/modernComment_109_61FDB0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DFD1E4DE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827640" y="3026880"/>
            <a:ext cx="7061400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1 - Introducción</a:t>
            </a: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b="1" dirty="0"/>
              <a:t>Rafael Torres Ferrer</a:t>
            </a:r>
            <a:endParaRPr lang="es-ES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451379" y="3907973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1 - Introducción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1005840" y="2486072"/>
            <a:ext cx="74509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s-ES" sz="3200" dirty="0"/>
              <a:t>1. Ejecución de Programas en el Lado Cliente</a:t>
            </a:r>
          </a:p>
          <a:p>
            <a:pPr>
              <a:spcAft>
                <a:spcPts val="2400"/>
              </a:spcAft>
            </a:pPr>
            <a:br>
              <a:rPr lang="es-ES" sz="3200" dirty="0"/>
            </a:br>
            <a:r>
              <a:rPr lang="es-ES" sz="3200" dirty="0"/>
              <a:t>2. Introducción a JavaScript</a:t>
            </a:r>
            <a:endParaRPr lang="ca-E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1 - Introducción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700" dirty="0"/>
              <a:t>1. Ejecución de programas en el lado del cliente</a:t>
            </a:r>
          </a:p>
          <a:p>
            <a:r>
              <a:rPr lang="es-ES" sz="2700" dirty="0"/>
              <a:t>   - Introducción</a:t>
            </a:r>
          </a:p>
          <a:p>
            <a:r>
              <a:rPr lang="es-ES" sz="2700" dirty="0"/>
              <a:t>   - Arquitectura cliente/servidor</a:t>
            </a:r>
          </a:p>
          <a:p>
            <a:r>
              <a:rPr lang="es-ES" sz="2700" dirty="0"/>
              <a:t>   - Lenguajes del lado del cliente y del servidor</a:t>
            </a:r>
          </a:p>
          <a:p>
            <a:endParaRPr lang="es-ES" sz="2700" dirty="0"/>
          </a:p>
          <a:p>
            <a:r>
              <a:rPr lang="es-ES" sz="2700" dirty="0"/>
              <a:t>2. Introducción a JavaScript</a:t>
            </a:r>
          </a:p>
          <a:p>
            <a:r>
              <a:rPr lang="es-ES" sz="2700" dirty="0"/>
              <a:t>   - Características principales</a:t>
            </a:r>
          </a:p>
          <a:p>
            <a:r>
              <a:rPr lang="es-ES" sz="2700" dirty="0"/>
              <a:t>   - Lenguajes compilados e interpretados</a:t>
            </a:r>
          </a:p>
          <a:p>
            <a:r>
              <a:rPr lang="es-ES" sz="2700" dirty="0"/>
              <a:t>   - Ventajas e inconvenientes</a:t>
            </a:r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Introducción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s-ES" sz="2800" dirty="0"/>
              <a:t>Al inicio de la era de Internet, las páginas web eran básicamente estáticas </a:t>
            </a:r>
            <a:r>
              <a:rPr lang="es-ES" sz="2800" dirty="0">
                <a:sym typeface="Wingdings" panose="05000000000000000000" pitchFamily="2" charset="2"/>
              </a:rPr>
              <a:t></a:t>
            </a:r>
            <a:r>
              <a:rPr lang="es-ES" sz="2800" dirty="0"/>
              <a:t> carecían de dinamismo (</a:t>
            </a:r>
            <a:r>
              <a:rPr lang="es-ES" sz="2800" b="1" dirty="0"/>
              <a:t>Web 1.0</a:t>
            </a:r>
            <a:r>
              <a:rPr lang="es-ES" sz="2800" dirty="0"/>
              <a:t>).</a:t>
            </a:r>
          </a:p>
          <a:p>
            <a:pPr algn="just"/>
            <a:endParaRPr lang="es-ES" sz="2800" dirty="0"/>
          </a:p>
          <a:p>
            <a:pPr marL="457200" indent="-457200" algn="just">
              <a:buFontTx/>
              <a:buChar char="-"/>
            </a:pPr>
            <a:r>
              <a:rPr lang="es-ES" sz="2800" dirty="0"/>
              <a:t>La programación en el lado del cliente ha permitido convertir las páginas web en atractivas e interactivas para el usuario (</a:t>
            </a:r>
            <a:r>
              <a:rPr lang="es-ES" sz="2800" b="1" dirty="0"/>
              <a:t>Web 2.0</a:t>
            </a:r>
            <a:r>
              <a:rPr lang="es-ES" sz="2800" dirty="0"/>
              <a:t>).</a:t>
            </a:r>
          </a:p>
          <a:p>
            <a:pPr algn="just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84484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Arquitectura cliente/servidor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- Hoy en día, la tecnología web </a:t>
            </a:r>
            <a:r>
              <a:rPr lang="es-ES" sz="2400" b="1" dirty="0"/>
              <a:t>permite mucho más que solo visitar páginas</a:t>
            </a:r>
            <a:r>
              <a:rPr lang="es-ES" sz="2400" dirty="0"/>
              <a:t>: aplicaciones para consultar horarios, controlar una casa domótica, servidores de cámaras IP, entre otros. </a:t>
            </a:r>
          </a:p>
          <a:p>
            <a:r>
              <a:rPr lang="es-ES" sz="2400" dirty="0"/>
              <a:t>- Estas aplicaciones web se basan en la arquitectura cliente/servidor.</a:t>
            </a:r>
          </a:p>
          <a:p>
            <a:pPr algn="just"/>
            <a:endParaRPr lang="es-ES" sz="28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318E8F8-3455-C299-34D1-146B1252F9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566232" y="4095379"/>
            <a:ext cx="3688199" cy="21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518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Arquitectura cliente/servidor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/>
              <a:t>Los clientes solicitan un determinado servicio al servidor. Los navegadores web (como Opera, Chrome, Firefox, TOR) son ejemplos de clientes.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/>
              <a:t>Los servidores sirven el contenido web que alojan. Ejemplos de servidores son Apache, Internet </a:t>
            </a:r>
            <a:r>
              <a:rPr lang="es-ES" sz="2000" dirty="0" err="1"/>
              <a:t>Information</a:t>
            </a:r>
            <a:r>
              <a:rPr lang="es-ES" sz="2000" dirty="0"/>
              <a:t> Server, Tomcat, etc.</a:t>
            </a:r>
          </a:p>
          <a:p>
            <a:pPr algn="just"/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E547DE-2111-06F5-2E5D-754F15FA2C6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022779" y="4654767"/>
            <a:ext cx="2213716" cy="968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C0CD80-A0E2-38A2-9D4C-2AFB9E6167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53995" y="4279168"/>
            <a:ext cx="1697039" cy="150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4DAD636-C8CC-176A-E80E-AD5EC6BAEF3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342473" y="3877768"/>
            <a:ext cx="1904760" cy="190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B062F7-1EA8-EA31-AD77-038F4625AAF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338672" y="4421368"/>
            <a:ext cx="1218960" cy="1218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95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Lenguajes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400" y="1732771"/>
            <a:ext cx="768817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/>
              <a:t>Supongamos que hacemos una consulta, desde nuestro portátil, a una web de viajes, con el navegador Chrome (cliente):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Escribimos la dirección web (URL) en la barra de navegación de Chrome: </a:t>
            </a:r>
            <a:r>
              <a:rPr lang="es-ES" sz="1400" dirty="0">
                <a:hlinkClick r:id="rId3"/>
              </a:rPr>
              <a:t>www.vacances.com/portugal.php</a:t>
            </a:r>
            <a:r>
              <a:rPr lang="es-ES" sz="1400" dirty="0"/>
              <a:t>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Los servidores DNS localizan la dirección IP del servidor web donde está alojada la URL.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La información se fragmenta en paquetes IP que viajan por diferentes </a:t>
            </a:r>
            <a:r>
              <a:rPr lang="es-ES" sz="1400" dirty="0" err="1"/>
              <a:t>routers</a:t>
            </a:r>
            <a:r>
              <a:rPr lang="es-ES" sz="1400" dirty="0"/>
              <a:t>, cortafuegos y capas de seguridad hasta llegar al servidor web. Allí, los paquetes se vuelven a ensamblar.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En el servidor, se ejecuta el script “</a:t>
            </a:r>
            <a:r>
              <a:rPr lang="es-ES" sz="1400" dirty="0" err="1"/>
              <a:t>portugal.php</a:t>
            </a:r>
            <a:r>
              <a:rPr lang="es-ES" sz="1400" dirty="0"/>
              <a:t>” y el resultado generado se combina con la parte HTML.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El resultado final regresa al destinatario (navegador Chrome).</a:t>
            </a:r>
          </a:p>
          <a:p>
            <a:pPr algn="just">
              <a:buFont typeface="+mj-lt"/>
              <a:buAutoNum type="arabicPeriod"/>
            </a:pPr>
            <a:endParaRPr lang="es-ES" sz="1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5C80BD-A27C-347C-9D21-76846144FB6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71566" y="3687137"/>
            <a:ext cx="2972434" cy="28403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3C2F377-F2B3-5001-8A4F-60B71617EB83}"/>
              </a:ext>
            </a:extLst>
          </p:cNvPr>
          <p:cNvSpPr txBox="1"/>
          <p:nvPr/>
        </p:nvSpPr>
        <p:spPr>
          <a:xfrm>
            <a:off x="914400" y="3876208"/>
            <a:ext cx="487279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/>
              <a:t>6.El cliente, Chrome, es el responsable de maquetar correctamente la página a partir del contenido HTML recibido, las hojas de estilo CSS y el código JavaScript que contenga, mostrando el resultado final en pantalla.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>Si presionamos </a:t>
            </a:r>
            <a:r>
              <a:rPr lang="es-ES" sz="1400" dirty="0" err="1"/>
              <a:t>Ctrl</a:t>
            </a:r>
            <a:r>
              <a:rPr lang="es-ES" sz="1400" dirty="0"/>
              <a:t>/U, veremos el código fuente de la página web recibida desde el servidor. </a:t>
            </a:r>
          </a:p>
          <a:p>
            <a:pPr algn="just"/>
            <a:r>
              <a:rPr lang="es-ES" sz="1400" b="1" dirty="0"/>
              <a:t>¿Por qué en el código fuente nunca podemos ver código PHP, pero sí código JavaScript?</a:t>
            </a:r>
          </a:p>
          <a:p>
            <a:pPr algn="just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02750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Características principales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852200"/>
            <a:ext cx="754236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 de programación del lado del cliente: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(también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JScript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ActionScript y Java, a través de Applets)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 de programación del lado del servidor: PHP, ASP, JSP, Perl,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(no deriva de Java):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 de guiones (script, en inglés)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Implementado originalmente por NCC (Netscape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derivado en el estándar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conocido por su uso en páginas web, pero también permite realizar otras tareas de programación y administración no enfocadas al entorno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0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793545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Características principales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036865"/>
            <a:ext cx="75423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Es un lenguaje maduro que incluye: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Tecnologías como AJAX (estándar para el intercambio de información cliente/servidor)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Librerías como JQUERY, que aumenta las prestaciones de los proyectos realizados con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/>
              <a:t>Frameworks</a:t>
            </a:r>
            <a:r>
              <a:rPr lang="es-ES" sz="2400" dirty="0"/>
              <a:t> como </a:t>
            </a:r>
            <a:r>
              <a:rPr lang="es-ES" sz="2400" dirty="0" err="1"/>
              <a:t>AngularJS</a:t>
            </a:r>
            <a:r>
              <a:rPr lang="es-ES" sz="2400" dirty="0"/>
              <a:t>, Vue.js o Backbone.js</a:t>
            </a:r>
          </a:p>
          <a:p>
            <a:endParaRPr lang="es-ES" sz="2400" dirty="0"/>
          </a:p>
          <a:p>
            <a:r>
              <a:rPr lang="es-ES" sz="2400" dirty="0"/>
              <a:t>Es un </a:t>
            </a:r>
            <a:r>
              <a:rPr lang="es-ES" sz="2400" b="1" dirty="0"/>
              <a:t>lenguaje interpretado </a:t>
            </a:r>
            <a:r>
              <a:rPr lang="es-ES" sz="2400" dirty="0"/>
              <a:t>(no compilado).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747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Lenguajes compilados vs interpretados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713701"/>
            <a:ext cx="75423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b="1" dirty="0"/>
              <a:t>Lenguajes interpretados: </a:t>
            </a:r>
            <a:r>
              <a:rPr lang="es-ES" dirty="0"/>
              <a:t>se ejecutan mediante un intérprete (</a:t>
            </a:r>
            <a:r>
              <a:rPr lang="es-ES" dirty="0" err="1"/>
              <a:t>SpiderMonkey</a:t>
            </a:r>
            <a:r>
              <a:rPr lang="es-ES" dirty="0"/>
              <a:t>, </a:t>
            </a:r>
            <a:r>
              <a:rPr lang="es-ES" dirty="0" err="1"/>
              <a:t>Rhino</a:t>
            </a:r>
            <a:r>
              <a:rPr lang="es-ES" dirty="0"/>
              <a:t> o </a:t>
            </a:r>
            <a:r>
              <a:rPr lang="es-ES" dirty="0" err="1"/>
              <a:t>Chakra</a:t>
            </a:r>
            <a:r>
              <a:rPr lang="es-ES" dirty="0"/>
              <a:t>), que procesa las órdenes del programa, una a una. </a:t>
            </a:r>
            <a:r>
              <a:rPr lang="es-ES" dirty="0" err="1"/>
              <a:t>Ej</a:t>
            </a:r>
            <a:r>
              <a:rPr lang="es-ES" dirty="0"/>
              <a:t>: JavaScript, Python, etc.</a:t>
            </a:r>
            <a:br>
              <a:rPr lang="es-ES" dirty="0"/>
            </a:br>
            <a:r>
              <a:rPr lang="es-ES" dirty="0"/>
              <a:t>(-) Unas 10 veces más lentos que los lenguajes compilados</a:t>
            </a:r>
            <a:br>
              <a:rPr lang="es-ES" dirty="0"/>
            </a:br>
            <a:r>
              <a:rPr lang="es-ES" dirty="0"/>
              <a:t>(+) Más sencillos de depurar y más fácilmente portables.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E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b="1" dirty="0"/>
              <a:t>Lenguajes compilados: </a:t>
            </a:r>
            <a:r>
              <a:rPr lang="es-ES" dirty="0"/>
              <a:t>requieren un compilador, que convierte las instrucciones programadas en código máquina (código binario entendible por el procesador). </a:t>
            </a:r>
            <a:r>
              <a:rPr lang="es-ES" dirty="0" err="1"/>
              <a:t>Ej</a:t>
            </a:r>
            <a:r>
              <a:rPr lang="es-ES" dirty="0"/>
              <a:t>: C/C++, Java, etc.</a:t>
            </a:r>
            <a:br>
              <a:rPr lang="es-ES" dirty="0"/>
            </a:br>
            <a:r>
              <a:rPr lang="es-ES" dirty="0"/>
              <a:t>(+) Ejecución más eficiente</a:t>
            </a:r>
            <a:br>
              <a:rPr lang="es-ES" dirty="0"/>
            </a:br>
            <a:r>
              <a:rPr lang="es-ES" dirty="0"/>
              <a:t>(-) Requieren mayor espacio </a:t>
            </a:r>
          </a:p>
          <a:p>
            <a:r>
              <a:rPr lang="es-ES" dirty="0"/>
              <a:t>	en memoria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09378F2-424C-6EB7-35D0-49D98C18BC2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t="23003"/>
          <a:stretch>
            <a:fillRect/>
          </a:stretch>
        </p:blipFill>
        <p:spPr>
          <a:xfrm>
            <a:off x="4890976" y="4402289"/>
            <a:ext cx="4253023" cy="2455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442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</a:t>
            </a:r>
          </a:p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Ventajas y desventajas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667533"/>
            <a:ext cx="754236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400" b="1" dirty="0"/>
              <a:t>Ventajas:</a:t>
            </a:r>
          </a:p>
          <a:p>
            <a:r>
              <a:rPr lang="es-ES" sz="2400" dirty="0"/>
              <a:t>  - Gran variedad de efectos en las páginas web.</a:t>
            </a:r>
          </a:p>
          <a:p>
            <a:r>
              <a:rPr lang="es-ES" sz="2400" dirty="0"/>
              <a:t>  - Interactividad con el usuario.</a:t>
            </a:r>
          </a:p>
          <a:p>
            <a:r>
              <a:rPr lang="es-ES" sz="2400" dirty="0"/>
              <a:t>  - Validación de formularios en el cliente.</a:t>
            </a:r>
          </a:p>
          <a:p>
            <a:endParaRPr lang="es-E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400" b="1" dirty="0"/>
              <a:t>Desventajas:</a:t>
            </a:r>
          </a:p>
          <a:p>
            <a:r>
              <a:rPr lang="es-ES" sz="2400" dirty="0"/>
              <a:t>  - Problemas de seguridad, ya que el código JavaScript se ejecuta en el cliente. </a:t>
            </a:r>
            <a:r>
              <a:rPr lang="es-ES" sz="2400" dirty="0">
                <a:sym typeface="Wingdings" panose="05000000000000000000" pitchFamily="2" charset="2"/>
              </a:rPr>
              <a:t> </a:t>
            </a:r>
            <a:r>
              <a:rPr lang="es-ES" sz="2400" b="1" dirty="0">
                <a:sym typeface="Wingdings" panose="05000000000000000000" pitchFamily="2" charset="2"/>
              </a:rPr>
              <a:t>Importante siempre navegar con un navegador actualizado!</a:t>
            </a:r>
            <a:endParaRPr lang="es-ES" sz="2400" b="1" dirty="0"/>
          </a:p>
          <a:p>
            <a:r>
              <a:rPr lang="es-ES" sz="2400" dirty="0"/>
              <a:t>  - Los estándares de seguridad restringen el acceso a los archivos del sistema (excepto las cookies).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225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8313</TotalTime>
  <Words>859</Words>
  <Application>Microsoft Office PowerPoint</Application>
  <PresentationFormat>Presentación en pantalla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JAENES ESTEBAN, ESPERANZA</cp:lastModifiedBy>
  <cp:revision>100</cp:revision>
  <dcterms:created xsi:type="dcterms:W3CDTF">2020-09-16T14:45:44Z</dcterms:created>
  <dcterms:modified xsi:type="dcterms:W3CDTF">2025-09-17T16:50:02Z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