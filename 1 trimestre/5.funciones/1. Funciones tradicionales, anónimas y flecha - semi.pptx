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61" r:id="rId4"/>
    <p:sldId id="262" r:id="rId5"/>
    <p:sldId id="265" r:id="rId6"/>
    <p:sldId id="267" r:id="rId7"/>
    <p:sldId id="268" r:id="rId8"/>
    <p:sldId id="269" r:id="rId9"/>
    <p:sldId id="266" r:id="rId10"/>
    <p:sldId id="270" r:id="rId11"/>
    <p:sldId id="271" r:id="rId12"/>
    <p:sldId id="272" r:id="rId13"/>
    <p:sldId id="274" r:id="rId14"/>
    <p:sldId id="273" r:id="rId15"/>
  </p:sldIdLst>
  <p:sldSz cx="9144000" cy="6858000" type="screen4x3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0A563-E867-E1A9-6423-93B98DF7A5C6}" v="12" dt="2025-10-21T13:23:21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87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BA101-CE1E-4D51-B4FB-6C738E3EFC88}" type="datetimeFigureOut">
              <a:rPr lang="ca-ES" smtClean="0"/>
              <a:t>22/10/2025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BB053-4444-4BBD-B912-B63DE6A3740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906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 hidden="1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9" name="Rectangle 8" hidden="1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2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3" name="Rectangle 6"/>
          <p:cNvSpPr/>
          <p:nvPr/>
        </p:nvSpPr>
        <p:spPr>
          <a:xfrm>
            <a:off x="2520" y="6400800"/>
            <a:ext cx="914004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9140040" cy="626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5" name="Straight Connector 8"/>
          <p:cNvSpPr/>
          <p:nvPr/>
        </p:nvSpPr>
        <p:spPr>
          <a:xfrm>
            <a:off x="905400" y="4343400"/>
            <a:ext cx="740664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5" name="Rectangle 8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6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Efw6xuj8Y0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5VVBrfWQ2Wk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stPXAffmmI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4 Subtítulo"/>
          <p:cNvSpPr/>
          <p:nvPr/>
        </p:nvSpPr>
        <p:spPr>
          <a:xfrm>
            <a:off x="1345064" y="2880000"/>
            <a:ext cx="6441624" cy="18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2100" b="1" spc="-1" dirty="0">
                <a:solidFill>
                  <a:srgbClr val="000000"/>
                </a:solidFill>
                <a:latin typeface="Calibri"/>
                <a:ea typeface="DejaVu Sans"/>
              </a:rPr>
              <a:t>Unidad 6 – Funciones tradicionales, anónimas y flecha</a:t>
            </a: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			</a:t>
            </a: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b="1" spc="-1" dirty="0">
                <a:solidFill>
                  <a:srgbClr val="000000"/>
                </a:solidFill>
                <a:latin typeface="Calibri"/>
              </a:rPr>
              <a:t>Rafael Torres Ferrer</a:t>
            </a:r>
            <a:endParaRPr lang="es-ES" dirty="0"/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</p:txBody>
      </p:sp>
      <p:sp>
        <p:nvSpPr>
          <p:cNvPr id="127" name="1 CuadroTexto"/>
          <p:cNvSpPr/>
          <p:nvPr/>
        </p:nvSpPr>
        <p:spPr>
          <a:xfrm>
            <a:off x="3523569" y="3784767"/>
            <a:ext cx="1473778" cy="2986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strike="noStrike" spc="-1" dirty="0">
                <a:solidFill>
                  <a:srgbClr val="A6A6A6"/>
                </a:solidFill>
                <a:latin typeface="Arial"/>
                <a:ea typeface="DejaVu Sans"/>
              </a:rPr>
              <a:t>DWEC - 2º DAW</a:t>
            </a:r>
            <a:endParaRPr lang="es-ES" sz="1350" b="0" strike="noStrike" spc="-1" dirty="0">
              <a:latin typeface="Arial"/>
            </a:endParaRPr>
          </a:p>
        </p:txBody>
      </p:sp>
      <p:sp>
        <p:nvSpPr>
          <p:cNvPr id="128" name="7 Conector recto"/>
          <p:cNvSpPr/>
          <p:nvPr/>
        </p:nvSpPr>
        <p:spPr>
          <a:xfrm>
            <a:off x="425880" y="4353480"/>
            <a:ext cx="784656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sp>
        <p:nvSpPr>
          <p:cNvPr id="129" name="12 Conector recto"/>
          <p:cNvSpPr/>
          <p:nvPr/>
        </p:nvSpPr>
        <p:spPr>
          <a:xfrm>
            <a:off x="452520" y="2880000"/>
            <a:ext cx="782748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pic>
        <p:nvPicPr>
          <p:cNvPr id="130" name="Imagen 8"/>
          <p:cNvPicPr/>
          <p:nvPr/>
        </p:nvPicPr>
        <p:blipFill>
          <a:blip r:embed="rId2"/>
          <a:stretch/>
        </p:blipFill>
        <p:spPr>
          <a:xfrm>
            <a:off x="0" y="199080"/>
            <a:ext cx="2135880" cy="1336320"/>
          </a:xfrm>
          <a:prstGeom prst="rect">
            <a:avLst/>
          </a:prstGeom>
          <a:ln w="0">
            <a:noFill/>
          </a:ln>
        </p:spPr>
      </p:pic>
      <p:pic>
        <p:nvPicPr>
          <p:cNvPr id="131" name="Imagen 130"/>
          <p:cNvPicPr/>
          <p:nvPr/>
        </p:nvPicPr>
        <p:blipFill>
          <a:blip r:embed="rId3"/>
          <a:stretch/>
        </p:blipFill>
        <p:spPr>
          <a:xfrm rot="600">
            <a:off x="4498560" y="519840"/>
            <a:ext cx="3967560" cy="73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2 – Índice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tradicionales</a:t>
            </a:r>
          </a:p>
          <a:p>
            <a:pPr lvl="1">
              <a:lnSpc>
                <a:spcPct val="150000"/>
              </a:lnSpc>
            </a:pPr>
            <a:r>
              <a:rPr lang="es-ES" sz="2400" dirty="0"/>
              <a:t>1.1 Parámetros y argumentos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anónimas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flecha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190058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marL="514350" indent="-514350" algn="ctr">
              <a:lnSpc>
                <a:spcPct val="85000"/>
              </a:lnSpc>
              <a:buAutoNum type="arabicPeriod"/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Funciones tradicionales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4156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Supongamos que esta función tradicional devuelve la suma de dos parámetros que le pasemos: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function add (num1, num2) {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15000"/>
              </a:lnSpc>
              <a:spcAft>
                <a:spcPts val="1000"/>
              </a:spcAft>
            </a:pPr>
            <a:r>
              <a:rPr lang="en-IE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 num1 + num2;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Cuando usemos esta función, simplemente la llamamos en el sitio deseado pasándole los argumentos apropiados. Por ejemplo: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console.log (</a:t>
            </a:r>
            <a:r>
              <a:rPr lang="es-ES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(3, 2)); // Se mostrará 5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información: </a:t>
            </a:r>
            <a:r>
              <a:rPr lang="es-E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https://www.youtube.com/watch?v=PEfw6xuj8Y0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80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244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Una función puede tener cero o más parámetros.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Los parámetros son los nombres que aparecen en la definición de una función.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Los argumentos son los valores que pasamos a (y que recibe) una función.</a:t>
            </a:r>
          </a:p>
        </p:txBody>
      </p:sp>
      <p:pic>
        <p:nvPicPr>
          <p:cNvPr id="4" name="Imagen 3" descr="Texto, Chat o mensaje de texto&#10;&#10;Descripción generada automáticamente">
            <a:extLst>
              <a:ext uri="{FF2B5EF4-FFF2-40B4-BE49-F238E27FC236}">
                <a16:creationId xmlns:a16="http://schemas.microsoft.com/office/drawing/2014/main" id="{1BCD671A-73BE-4B05-C1BB-306F79297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2"/>
          <a:stretch/>
        </p:blipFill>
        <p:spPr>
          <a:xfrm>
            <a:off x="4434687" y="3959463"/>
            <a:ext cx="3146328" cy="22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1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392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Reglas de los parámetros: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se especifica el tipo de los parámetros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se verifican los tipos de los argumentos.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No se comprueba el número de los argumentos recibidos.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rgumentos por defecto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Argumentos por e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xceso</a:t>
            </a:r>
            <a:endParaRPr lang="es-ES" sz="2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06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4759DDA-E0C4-EF5A-B0F4-11E00E64157A}"/>
              </a:ext>
            </a:extLst>
          </p:cNvPr>
          <p:cNvSpPr txBox="1"/>
          <p:nvPr/>
        </p:nvSpPr>
        <p:spPr>
          <a:xfrm>
            <a:off x="378631" y="1852200"/>
            <a:ext cx="7688179" cy="248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</a:rPr>
              <a:t>rgumentos por defecto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</a:rPr>
              <a:t>Cuando llamamos a una función con menos argumentos de los declarados. Los valores que faltan no están definidos.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endParaRPr lang="es-ES" sz="2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C2BB97-3E5B-0110-FD4B-F6F99EBAA1F8}"/>
              </a:ext>
            </a:extLst>
          </p:cNvPr>
          <p:cNvSpPr/>
          <p:nvPr/>
        </p:nvSpPr>
        <p:spPr>
          <a:xfrm>
            <a:off x="963542" y="4030579"/>
            <a:ext cx="3319700" cy="17567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suma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s-ES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resultado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suma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(resultado);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008102-B58E-B06A-D17B-A7E25B4EC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201977"/>
            <a:ext cx="3880774" cy="1203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834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4759DDA-E0C4-EF5A-B0F4-11E00E64157A}"/>
              </a:ext>
            </a:extLst>
          </p:cNvPr>
          <p:cNvSpPr txBox="1"/>
          <p:nvPr/>
        </p:nvSpPr>
        <p:spPr>
          <a:xfrm>
            <a:off x="378631" y="1852200"/>
            <a:ext cx="7688179" cy="219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</a:rPr>
              <a:t>rgumentos por exceso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Cuando llamamos a una función con más argumentos de los declarados. Los valores que nos llegan pueden capturarse a través de un objeto (incluido en la función) llamado </a:t>
            </a:r>
            <a:r>
              <a:rPr lang="es-ES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arguments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endParaRPr lang="es-ES" sz="2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C2BB97-3E5B-0110-FD4B-F6F99EBAA1F8}"/>
              </a:ext>
            </a:extLst>
          </p:cNvPr>
          <p:cNvSpPr/>
          <p:nvPr/>
        </p:nvSpPr>
        <p:spPr>
          <a:xfrm>
            <a:off x="887580" y="3531832"/>
            <a:ext cx="7542360" cy="15497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s-ES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'El número de argumentos es '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.length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B66585-6BD3-80E6-A2B3-86DCB71990EF}"/>
              </a:ext>
            </a:extLst>
          </p:cNvPr>
          <p:cNvSpPr txBox="1"/>
          <p:nvPr/>
        </p:nvSpPr>
        <p:spPr>
          <a:xfrm>
            <a:off x="822960" y="6358133"/>
            <a:ext cx="697495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información: </a:t>
            </a: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https://www.youtube.com/watch?v=5VVBrfWQ2Wk</a:t>
            </a:r>
            <a:endParaRPr lang="es-ES" sz="1800" dirty="0">
              <a:effectLst/>
              <a:latin typeface="Calibri" panose="020F0502020204030204" pitchFamily="34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3BA719-1237-2F35-74C6-85E6C5CB7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29"/>
          <a:stretch/>
        </p:blipFill>
        <p:spPr>
          <a:xfrm>
            <a:off x="2392418" y="5169843"/>
            <a:ext cx="3836041" cy="1100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768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anónimas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D34C7A-CDCF-F85D-FD7B-642E9DECBE86}"/>
              </a:ext>
            </a:extLst>
          </p:cNvPr>
          <p:cNvSpPr txBox="1"/>
          <p:nvPr/>
        </p:nvSpPr>
        <p:spPr>
          <a:xfrm>
            <a:off x="908020" y="1911597"/>
            <a:ext cx="7457300" cy="340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También podemos expresar la misma función como anónima. Son funciones que no tienen nombre, y por tanto se suelen asignar a una variable para que después puedan ser llamadas: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IE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addAnonymous</a:t>
            </a: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function (num1, num2) {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 num1 + num2;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console.log (</a:t>
            </a:r>
            <a:r>
              <a:rPr lang="en-IE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addAnonymous</a:t>
            </a: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(3, 2));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173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anónimas: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autoinvocadas</a:t>
            </a:r>
            <a:endParaRPr lang="es-ES" sz="3200" b="1" spc="-52" dirty="0">
              <a:solidFill>
                <a:srgbClr val="333333"/>
              </a:solidFill>
              <a:latin typeface="Arial"/>
              <a:ea typeface="Times New Roman"/>
            </a:endParaRP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D34C7A-CDCF-F85D-FD7B-642E9DECBE86}"/>
              </a:ext>
            </a:extLst>
          </p:cNvPr>
          <p:cNvSpPr txBox="1"/>
          <p:nvPr/>
        </p:nvSpPr>
        <p:spPr>
          <a:xfrm>
            <a:off x="908020" y="1911597"/>
            <a:ext cx="7457300" cy="421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Son funciones anónimas que pueden ser llamadas a la vez que se declaran. Para llamarla utilizamos los 2 paréntesis al final y para indicar que todo es una expresión, ponemos toda la sentencia entre paréntesis.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sz="20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() { </a:t>
            </a:r>
            <a:r>
              <a:rPr lang="es-ES" sz="20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alert</a:t>
            </a: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(Hola);}());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 sobre funciones anónimas: </a:t>
            </a:r>
            <a:r>
              <a:rPr lang="es-ES" sz="1800" u="sng" dirty="0">
                <a:solidFill>
                  <a:srgbClr val="46788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https://www.youtube.com/watch?v=GstPXAffmmI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56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image1.jpeg">
            <a:extLst>
              <a:ext uri="{FF2B5EF4-FFF2-40B4-BE49-F238E27FC236}">
                <a16:creationId xmlns:a16="http://schemas.microsoft.com/office/drawing/2014/main" id="{EEC0D51B-AF2A-B43B-6B3F-8803D79E09C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27676"/>
          <a:stretch/>
        </p:blipFill>
        <p:spPr>
          <a:xfrm>
            <a:off x="993383" y="2067704"/>
            <a:ext cx="7362179" cy="33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8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2.jpeg">
            <a:extLst>
              <a:ext uri="{FF2B5EF4-FFF2-40B4-BE49-F238E27FC236}">
                <a16:creationId xmlns:a16="http://schemas.microsoft.com/office/drawing/2014/main" id="{55CC4F65-7E9E-6C33-CB85-7CB8FF973C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62675"/>
          <a:stretch/>
        </p:blipFill>
        <p:spPr>
          <a:xfrm>
            <a:off x="822960" y="2033398"/>
            <a:ext cx="7710362" cy="380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00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2.jpeg">
            <a:extLst>
              <a:ext uri="{FF2B5EF4-FFF2-40B4-BE49-F238E27FC236}">
                <a16:creationId xmlns:a16="http://schemas.microsoft.com/office/drawing/2014/main" id="{55CC4F65-7E9E-6C33-CB85-7CB8FF973C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49021" b="2149"/>
          <a:stretch/>
        </p:blipFill>
        <p:spPr>
          <a:xfrm>
            <a:off x="1105786" y="1865859"/>
            <a:ext cx="7130194" cy="460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54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3.jpeg">
            <a:extLst>
              <a:ext uri="{FF2B5EF4-FFF2-40B4-BE49-F238E27FC236}">
                <a16:creationId xmlns:a16="http://schemas.microsoft.com/office/drawing/2014/main" id="{D153B859-194C-D52A-56DA-434F0ED3BBD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27334"/>
          <a:stretch/>
        </p:blipFill>
        <p:spPr>
          <a:xfrm>
            <a:off x="908020" y="1852200"/>
            <a:ext cx="7492049" cy="397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4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9408</TotalTime>
  <Words>498</Words>
  <Application>Microsoft Office PowerPoint</Application>
  <PresentationFormat>Presentación en pantalla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Consolas</vt:lpstr>
      <vt:lpstr>Symbol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Beatriz Fuster Ochando</dc:creator>
  <dc:description/>
  <cp:lastModifiedBy>JAENES ESTEBAN, ESPERANZA</cp:lastModifiedBy>
  <cp:revision>121</cp:revision>
  <dcterms:created xsi:type="dcterms:W3CDTF">2020-09-16T14:45:44Z</dcterms:created>
  <dcterms:modified xsi:type="dcterms:W3CDTF">2025-10-22T10:58:14Z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9</vt:r8>
  </property>
</Properties>
</file>