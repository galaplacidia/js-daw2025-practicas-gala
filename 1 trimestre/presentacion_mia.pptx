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34" r:id="rId5"/>
    <p:sldId id="316" r:id="rId6"/>
    <p:sldId id="337" r:id="rId7"/>
    <p:sldId id="343" r:id="rId8"/>
    <p:sldId id="350" r:id="rId9"/>
    <p:sldId id="342" r:id="rId10"/>
    <p:sldId id="336" r:id="rId11"/>
    <p:sldId id="346" r:id="rId12"/>
    <p:sldId id="351" r:id="rId13"/>
    <p:sldId id="353" r:id="rId14"/>
    <p:sldId id="354" r:id="rId15"/>
    <p:sldId id="355" r:id="rId16"/>
    <p:sldId id="352" r:id="rId17"/>
    <p:sldId id="331" r:id="rId18"/>
    <p:sldId id="356" r:id="rId19"/>
    <p:sldId id="349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9" autoAdjust="0"/>
    <p:restoredTop sz="84967" autoAdjust="0"/>
  </p:normalViewPr>
  <p:slideViewPr>
    <p:cSldViewPr snapToGrid="0">
      <p:cViewPr varScale="1">
        <p:scale>
          <a:sx n="60" d="100"/>
          <a:sy n="60" d="100"/>
        </p:scale>
        <p:origin x="302" y="55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0AAA6EE-6919-4DC7-8439-298F991E723B}" type="datetime1">
              <a:rPr lang="es-ES" smtClean="0"/>
              <a:t>09/10/2025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397C78D2-97D1-4B37-BDD1-08A09BD4CA9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340614D4-F124-4668-AD9D-A3BFE7ECCF6B}" type="datetime1">
              <a:rPr lang="es-ES" smtClean="0"/>
              <a:pPr/>
              <a:t>09/10/2025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5939589-3E79-4C82-AA4A-FE78234FAA5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38F7-B6E8-8668-B5F3-7D66BA7F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023406-385F-C2F5-B8AD-BA783FED3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651A26-34E2-B851-0043-1539330AF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6F46AF-2FA5-2089-1224-F9957A58A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2904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D2F9-510A-437D-F9D4-F2E8DAD8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31CDE8-0460-2540-42B1-2940D1086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E19781-1B81-3A42-AF27-88B6F1022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535C25-6C89-3D2E-ED11-90EB59C29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8659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1776-D957-6699-C3D8-5ACD58C5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7E9154A-45FF-E74B-47B6-1B76EDFC2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D87D66-5FE5-9B6A-9151-0B5E63276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127114-839B-82A4-2C5D-2C74A7EB9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052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B2FA-4BA3-1486-C016-AA162C9B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A2A6BF-157F-409D-9429-DFB87EC91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38AF79-7C59-D189-D05B-4C5CABF7B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D01BFD-798D-322D-18D1-45C384C38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0317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D9E5-42CC-69C5-E419-84D98B43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0975C2-E699-FD2E-F161-6E14F2C50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E31F91-2107-0551-0DAF-965236555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943ED1-26A0-573D-9628-CFD78F3E0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6639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D918E-F80C-1AED-FBA8-26E7B327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FF69C5-3D51-CEFD-3DF4-1769DA561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73A94A-27E1-EE42-8ABD-92575E0B8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2B5771-98BC-72CD-CB3F-884A12863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0842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solo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es-ES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7" name="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" name="Marcador de posición de imagen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5" name="Marcador de posición de imagen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es-ES" sz="1800"/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defRPr lang="es-ES" sz="1600"/>
            </a:lvl2pPr>
            <a:lvl3pPr marL="457200">
              <a:defRPr lang="es-ES" sz="1400"/>
            </a:lvl3pPr>
            <a:lvl4pPr marL="685800">
              <a:defRPr lang="es-ES" sz="1200"/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á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Grá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4" name="Marcador de pie de pá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+ diapositiva de sub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es-ES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es-ES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es-ES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es-ES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 indent="0">
              <a:spcBef>
                <a:spcPts val="1200"/>
              </a:spcBef>
              <a:buNone/>
              <a:defRPr lang="es-ES" sz="1600"/>
            </a:lvl2pPr>
            <a:lvl3pPr marL="914400" indent="0">
              <a:spcBef>
                <a:spcPts val="1200"/>
              </a:spcBef>
              <a:buNone/>
              <a:defRPr lang="es-ES" sz="1400"/>
            </a:lvl3pPr>
            <a:lvl4pPr marL="1371600" indent="0">
              <a:spcBef>
                <a:spcPts val="1200"/>
              </a:spcBef>
              <a:buNone/>
              <a:defRPr lang="es-ES" sz="1200"/>
            </a:lvl4pPr>
            <a:lvl5pPr marL="1828800" indent="0">
              <a:spcBef>
                <a:spcPts val="1200"/>
              </a:spcBef>
              <a:buNone/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600"/>
            </a:lvl2pPr>
            <a:lvl3pPr>
              <a:spcBef>
                <a:spcPts val="1200"/>
              </a:spcBef>
              <a:defRPr lang="es-ES" sz="1400"/>
            </a:lvl3pPr>
            <a:lvl4pPr>
              <a:spcBef>
                <a:spcPts val="1200"/>
              </a:spcBef>
              <a:defRPr lang="es-ES" sz="1200"/>
            </a:lvl4pPr>
            <a:lvl5pPr>
              <a:spcBef>
                <a:spcPts val="1200"/>
              </a:spcBef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es-ES" sz="4000" b="1" i="0" cap="all" spc="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lnSpc>
                <a:spcPct val="110000"/>
              </a:lnSpc>
              <a:defRPr lang="es-ES" sz="1600"/>
            </a:lvl2pPr>
            <a:lvl3pPr marL="457200">
              <a:lnSpc>
                <a:spcPct val="110000"/>
              </a:lnSpc>
              <a:defRPr lang="es-ES" sz="1400"/>
            </a:lvl3pPr>
            <a:lvl4pPr marL="685800">
              <a:lnSpc>
                <a:spcPct val="110000"/>
              </a:lnSpc>
              <a:defRPr lang="es-ES" sz="1200"/>
            </a:lvl4pPr>
            <a:lvl5pPr marL="914400">
              <a:lnSpc>
                <a:spcPct val="110000"/>
              </a:lnSpc>
              <a:defRPr lang="es-ES" sz="12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0" name="Marcador de pie de pá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es-ES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es-ES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es-ES" sz="1200">
                <a:solidFill>
                  <a:schemeClr val="tx1"/>
                </a:solidFill>
              </a:defRPr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pie de pá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>
              <a:spcBef>
                <a:spcPts val="1200"/>
              </a:spcBef>
              <a:defRPr lang="es-ES" sz="1800"/>
            </a:lvl2pPr>
            <a:lvl3pPr marL="914400">
              <a:spcBef>
                <a:spcPts val="1200"/>
              </a:spcBef>
              <a:defRPr lang="es-ES" sz="1800"/>
            </a:lvl3pPr>
            <a:lvl4pPr marL="1371600">
              <a:spcBef>
                <a:spcPts val="1200"/>
              </a:spcBef>
              <a:defRPr lang="es-ES" sz="1800"/>
            </a:lvl4pPr>
            <a:lvl5pPr marL="18288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800"/>
            </a:lvl2pPr>
            <a:lvl3pPr>
              <a:spcBef>
                <a:spcPts val="1200"/>
              </a:spcBef>
              <a:defRPr lang="es-ES" sz="1800"/>
            </a:lvl3pPr>
            <a:lvl4pPr>
              <a:spcBef>
                <a:spcPts val="1200"/>
              </a:spcBef>
              <a:defRPr lang="es-ES" sz="1800"/>
            </a:lvl4pPr>
            <a:lvl5pPr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á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Grá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Grá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á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6" name="Grá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7" name="Grá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es-ES" sz="4000" b="1" cap="all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rbujas de imagen y títu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es-ES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posición de imagen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á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5" name="Grá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6" name="Grá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es-ES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es-ES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keepcoding.io/blog/ventajas-y-desventajas-de-kotlin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blog.back4app.com/es/los-10-lenguajes-frontales-que-debe-conoce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blog.back4app.com/es/los-10-principales-lenguajes-de-programacion-de-frontend/" TargetMode="External"/><Relationship Id="rId5" Type="http://schemas.openxmlformats.org/officeDocument/2006/relationships/hyperlink" Target="https://waimatech.com/mejores-lenguajes-front-end-desarrollo-empresarial/" TargetMode="External"/><Relationship Id="rId4" Type="http://schemas.openxmlformats.org/officeDocument/2006/relationships/hyperlink" Target="https://appdesign.dev/los-10-mejores-lenguajes-de-programacion-frontend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estudizeta.com/blog/mejores-frameworks-de-desarrollo-web-en-2025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es.linkedin.com/pulse/herramientas-b%C3%A1sicas-para-comenzar-como-desarrollador-rey-plata-f31k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blog.back4app.com/es/los-10-principales-lenguajes-de-programacion-de-frontend/" TargetMode="External"/><Relationship Id="rId5" Type="http://schemas.openxmlformats.org/officeDocument/2006/relationships/hyperlink" Target="https://apidog.com/es/blog/top-frontend-tools-2024-3/" TargetMode="External"/><Relationship Id="rId10" Type="http://schemas.openxmlformats.org/officeDocument/2006/relationships/hyperlink" Target="https://codigoencasa.com/8-herramientas-frontend-para-ser-un-mejor-desarrollador/" TargetMode="External"/><Relationship Id="rId4" Type="http://schemas.openxmlformats.org/officeDocument/2006/relationships/hyperlink" Target="https://universidadeuropea.com/blog/editor-codigo/" TargetMode="External"/><Relationship Id="rId9" Type="http://schemas.openxmlformats.org/officeDocument/2006/relationships/hyperlink" Target="https://www.airavirtual.com/blog/herramientas-de-front-end-dev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ecuador.unir.net/actualidad-unir/que-es-frontend/" TargetMode="External"/><Relationship Id="rId4" Type="http://schemas.openxmlformats.org/officeDocument/2006/relationships/hyperlink" Target="https://entornos-desarrollo.codeandcoke.com/apuntes:backend_fronten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Entornos de trabajo para el desarrollo web en cliente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042" y="1113906"/>
            <a:ext cx="5918072" cy="145295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objetivos</a:t>
            </a:r>
          </a:p>
        </p:txBody>
      </p:sp>
      <p:pic>
        <p:nvPicPr>
          <p:cNvPr id="6" name="Marcador de posición de imagen 5" descr="Montañas al atardecer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>
          <a:xfrm>
            <a:off x="3632660" y="1021110"/>
            <a:ext cx="2040103" cy="2040102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53985" y="3966943"/>
            <a:ext cx="9280631" cy="314496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l"/>
            <a:r>
              <a:rPr lang="es-ES" dirty="0"/>
              <a:t>• Analizar los diferentes lenguajes de programación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end</a:t>
            </a:r>
            <a:endParaRPr lang="es-ES" dirty="0"/>
          </a:p>
          <a:p>
            <a:pPr algn="l"/>
            <a:r>
              <a:rPr lang="es-ES" dirty="0"/>
              <a:t> • Analizar las herramientas para trabajar con ellos </a:t>
            </a:r>
          </a:p>
          <a:p>
            <a:pPr algn="l"/>
            <a:r>
              <a:rPr lang="es-ES" dirty="0"/>
              <a:t>• Definir un entorno de trabajo completo</a:t>
            </a:r>
          </a:p>
          <a:p>
            <a:pPr rtl="0"/>
            <a:r>
              <a:rPr lang="es-ES" dirty="0"/>
              <a:t>	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8" descr="Montañas al atardecer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220800" y="3560064"/>
            <a:ext cx="11763936" cy="73152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417" y="-133004"/>
            <a:ext cx="8311102" cy="1429789"/>
          </a:xfrm>
        </p:spPr>
        <p:txBody>
          <a:bodyPr rtlCol="0"/>
          <a:lstStyle>
            <a:defPPr>
              <a:defRPr lang="es-ES"/>
            </a:defPPr>
          </a:lstStyle>
          <a:p>
            <a:pPr rtl="0">
              <a:lnSpc>
                <a:spcPct val="100000"/>
              </a:lnSpc>
            </a:pPr>
            <a:r>
              <a:rPr lang="es-ES" dirty="0"/>
              <a:t>Lenguajes básicos</a:t>
            </a:r>
            <a:br>
              <a:rPr lang="es-ES" dirty="0"/>
            </a:b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D47FAF-E669-42B7-FAA1-EE7163D0175F}"/>
              </a:ext>
            </a:extLst>
          </p:cNvPr>
          <p:cNvSpPr txBox="1"/>
          <p:nvPr/>
        </p:nvSpPr>
        <p:spPr>
          <a:xfrm>
            <a:off x="1346662" y="4028442"/>
            <a:ext cx="119013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000" b="1" cap="all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endParaRPr lang="es-ES" sz="2000" b="1" cap="all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b="1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JavaScript </a:t>
            </a:r>
            <a:r>
              <a:rPr lang="es-ES" sz="2200" dirty="0">
                <a:solidFill>
                  <a:schemeClr val="bg1"/>
                </a:solidFill>
              </a:rPr>
              <a:t>es un lenguaje que permite dar interactividad y dinamismo.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s-ES" sz="2200" dirty="0">
                <a:solidFill>
                  <a:schemeClr val="bg1"/>
                </a:solidFill>
              </a:rPr>
              <a:t>Creando efectos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s-ES" sz="2200" dirty="0">
                <a:solidFill>
                  <a:schemeClr val="bg1"/>
                </a:solidFill>
              </a:rPr>
              <a:t>Recibiendo entradas de usuario, manipulando datos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s-ES" sz="2200" dirty="0">
                <a:solidFill>
                  <a:schemeClr val="bg1"/>
                </a:solidFill>
              </a:rPr>
              <a:t>Desarrollando aplicaciones web completas.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endParaRPr lang="es-ES" sz="2400" dirty="0">
              <a:solidFill>
                <a:schemeClr val="bg1"/>
              </a:solidFill>
            </a:endParaRPr>
          </a:p>
          <a:p>
            <a:pPr marL="1257300" lvl="2" indent="-342900">
              <a:buFont typeface="Courier New" panose="02070309020205020404" pitchFamily="49" charset="0"/>
              <a:buChar char="o"/>
            </a:pPr>
            <a:endParaRPr lang="es-ES" sz="2400" dirty="0">
              <a:solidFill>
                <a:schemeClr val="bg1"/>
              </a:solidFill>
            </a:endParaRPr>
          </a:p>
          <a:p>
            <a:endParaRPr lang="es-ES" sz="2000" b="1" cap="all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12DF83-B153-B7C8-0EAB-1219934AF105}"/>
              </a:ext>
            </a:extLst>
          </p:cNvPr>
          <p:cNvSpPr txBox="1"/>
          <p:nvPr/>
        </p:nvSpPr>
        <p:spPr>
          <a:xfrm>
            <a:off x="1346662" y="1433782"/>
            <a:ext cx="1045741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b="1" cap="all" dirty="0" err="1">
                <a:solidFill>
                  <a:schemeClr val="bg1"/>
                </a:solidFill>
              </a:rPr>
              <a:t>html</a:t>
            </a:r>
            <a:r>
              <a:rPr lang="es-ES" sz="2000" b="1" cap="all" dirty="0">
                <a:solidFill>
                  <a:schemeClr val="bg1"/>
                </a:solidFill>
              </a:rPr>
              <a:t> </a:t>
            </a:r>
            <a:r>
              <a:rPr lang="es-ES" sz="2200" dirty="0">
                <a:solidFill>
                  <a:schemeClr val="bg1"/>
                </a:solidFill>
              </a:rPr>
              <a:t>es un lenguaje que sirve para estructurar el contenido de una web</a:t>
            </a:r>
            <a:r>
              <a:rPr lang="es-ES" sz="2200" b="1" cap="all" dirty="0">
                <a:solidFill>
                  <a:schemeClr val="bg1"/>
                </a:solidFill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</a:rPr>
              <a:t>Define los elementos y la organización de la información</a:t>
            </a:r>
            <a:r>
              <a:rPr lang="es-ES" sz="2200" b="1" cap="all" dirty="0">
                <a:solidFill>
                  <a:schemeClr val="bg1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000" b="1" cap="all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000" b="1" cap="all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b="1" cap="all" dirty="0">
                <a:solidFill>
                  <a:schemeClr val="bg1"/>
                </a:solidFill>
              </a:rPr>
              <a:t>CSS </a:t>
            </a:r>
            <a:r>
              <a:rPr lang="es-ES" sz="2200" dirty="0">
                <a:solidFill>
                  <a:schemeClr val="bg1"/>
                </a:solidFill>
              </a:rPr>
              <a:t>es un lenguaje que permite crear colores, fuentes, tamaños, diseño y animaciones</a:t>
            </a:r>
            <a:r>
              <a:rPr lang="es-ES" sz="2200" b="1" cap="all" dirty="0">
                <a:solidFill>
                  <a:schemeClr val="bg1"/>
                </a:solidFill>
              </a:rPr>
              <a:t>. </a:t>
            </a:r>
          </a:p>
          <a:p>
            <a:pPr lvl="1"/>
            <a:endParaRPr lang="es-ES" sz="2200" b="1" cap="all" dirty="0">
              <a:solidFill>
                <a:schemeClr val="bg1"/>
              </a:solidFill>
            </a:endParaRPr>
          </a:p>
          <a:p>
            <a:pPr lvl="1"/>
            <a:r>
              <a:rPr lang="es-ES" sz="2200" b="1" cap="all" dirty="0">
                <a:solidFill>
                  <a:schemeClr val="bg1"/>
                </a:solidFill>
              </a:rPr>
              <a:t>CSS Y HTML </a:t>
            </a:r>
            <a:r>
              <a:rPr lang="es-ES" sz="2200" dirty="0">
                <a:solidFill>
                  <a:schemeClr val="bg1"/>
                </a:solidFill>
              </a:rPr>
              <a:t>se utilizan juntos para definir cómo se ve la página</a:t>
            </a:r>
            <a:r>
              <a:rPr lang="es-ES" sz="2200" b="1" cap="all" dirty="0">
                <a:solidFill>
                  <a:schemeClr val="bg1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000" b="1" cap="all" dirty="0">
              <a:solidFill>
                <a:schemeClr val="bg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21" descr="Montañas bajo un cielo casi al anochecer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>
          <a:xfrm>
            <a:off x="9803872" y="4518925"/>
            <a:ext cx="2169618" cy="2169622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640080"/>
            <a:ext cx="10302240" cy="1092926"/>
          </a:xfrm>
        </p:spPr>
        <p:txBody>
          <a:bodyPr rtlCol="0"/>
          <a:lstStyle>
            <a:defPPr>
              <a:defRPr lang="es-ES"/>
            </a:defPPr>
          </a:lstStyle>
          <a:p>
            <a:pPr>
              <a:lnSpc>
                <a:spcPct val="100000"/>
              </a:lnSpc>
            </a:pPr>
            <a:r>
              <a:rPr lang="es-ES" dirty="0"/>
              <a:t>Lenguajes</a:t>
            </a:r>
            <a:br>
              <a:rPr lang="es-ES" dirty="0"/>
            </a:br>
            <a:r>
              <a:rPr lang="es-ES" dirty="0"/>
              <a:t>complementarios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319" y="2346760"/>
            <a:ext cx="7853678" cy="129470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  <a:p>
            <a:pPr rtl="0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012C15-3E5F-1FB0-B411-7013D08BFE9E}"/>
              </a:ext>
            </a:extLst>
          </p:cNvPr>
          <p:cNvSpPr txBox="1"/>
          <p:nvPr/>
        </p:nvSpPr>
        <p:spPr>
          <a:xfrm>
            <a:off x="1303319" y="2187416"/>
            <a:ext cx="104783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400" b="1" dirty="0" err="1">
                <a:solidFill>
                  <a:schemeClr val="bg1"/>
                </a:solidFill>
              </a:rPr>
              <a:t>TypeScript</a:t>
            </a:r>
            <a:r>
              <a:rPr lang="es-ES" sz="2400" dirty="0">
                <a:solidFill>
                  <a:schemeClr val="bg1"/>
                </a:solidFill>
              </a:rPr>
              <a:t>: Es una evolución de JavaScript que añade tipado estático, permite el mantenimiento de código seguro y facilita la escalabilidad de los proyectos grandes.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400" b="1" dirty="0" err="1">
                <a:solidFill>
                  <a:schemeClr val="bg1"/>
                </a:solidFill>
              </a:rPr>
              <a:t>Elm</a:t>
            </a:r>
            <a:r>
              <a:rPr lang="es-ES" sz="2400" b="1" dirty="0">
                <a:solidFill>
                  <a:schemeClr val="bg1"/>
                </a:solidFill>
              </a:rPr>
              <a:t>:</a:t>
            </a:r>
            <a:r>
              <a:rPr lang="es-ES" sz="2400" dirty="0">
                <a:solidFill>
                  <a:schemeClr val="bg1"/>
                </a:solidFill>
              </a:rPr>
              <a:t> Un lenguaje funcional centrado en desarrollar interfaces web rápidas y estables, con enfoque en la robustez y la interacción con JavaScript.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BD0BF-C03A-B4AC-4DFD-5EE6025B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1" y="144642"/>
            <a:ext cx="11159475" cy="946967"/>
          </a:xfrm>
        </p:spPr>
        <p:txBody>
          <a:bodyPr/>
          <a:lstStyle/>
          <a:p>
            <a:r>
              <a:rPr lang="es-ES" dirty="0"/>
              <a:t>Lenguajes para app móviles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60CD9C-6363-37B4-E492-5EE0B1FA52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62451" y="1765005"/>
            <a:ext cx="6695539" cy="494835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1" dirty="0"/>
              <a:t>Swift: </a:t>
            </a:r>
            <a:r>
              <a:rPr lang="es-ES" dirty="0"/>
              <a:t>Usado principalmente en el desarrollo de aplicaciones para sistemas de Apple (iOS, macOS). </a:t>
            </a:r>
          </a:p>
          <a:p>
            <a:pPr algn="l"/>
            <a:r>
              <a:rPr lang="es-ES" dirty="0"/>
              <a:t>	+ Es de código abierto y seguro.</a:t>
            </a:r>
          </a:p>
          <a:p>
            <a:pPr algn="l"/>
            <a:r>
              <a:rPr lang="es-ES" dirty="0"/>
              <a:t>	- No es popular, no es compatible con                                                            	versiones antiguas de iOS.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1" dirty="0" err="1"/>
              <a:t>Kotlin</a:t>
            </a:r>
            <a:r>
              <a:rPr lang="es-ES" dirty="0"/>
              <a:t>: Principal lenguaje de desarrollo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 para aplicaciones Android.</a:t>
            </a:r>
          </a:p>
          <a:p>
            <a:pPr algn="l"/>
            <a:r>
              <a:rPr lang="es-ES" dirty="0"/>
              <a:t>	+ Es de código abierto, sintaxis  y 	conceptos similares a otros lenguajes.</a:t>
            </a:r>
          </a:p>
          <a:p>
            <a:pPr algn="l"/>
            <a:r>
              <a:rPr lang="es-ES" dirty="0"/>
              <a:t>	- Curva de aprendizaje inicial y menor 	base de usuario que otros lenguajes.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ES" dirty="0"/>
          </a:p>
          <a:p>
            <a:pPr marL="1485900" lvl="2" indent="-342900"/>
            <a:endParaRPr lang="es-ES" dirty="0"/>
          </a:p>
          <a:p>
            <a:endParaRPr lang="es-ES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F62CCE1-A8E5-BF50-2557-0BC204A70E2A}"/>
              </a:ext>
            </a:extLst>
          </p:cNvPr>
          <p:cNvSpPr/>
          <p:nvPr/>
        </p:nvSpPr>
        <p:spPr>
          <a:xfrm>
            <a:off x="954909" y="2208812"/>
            <a:ext cx="3823854" cy="39568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Todos estos lenguajes se usan juntos para formar la parte visual y de interacción de las web y aplicaciones de usuario. </a:t>
            </a:r>
          </a:p>
          <a:p>
            <a:pPr algn="ctr"/>
            <a:r>
              <a:rPr lang="es-ES" dirty="0"/>
              <a:t>Cada uno cumple una función específica dentro de la creación de webs y aplicaciones modernas</a:t>
            </a:r>
          </a:p>
        </p:txBody>
      </p:sp>
    </p:spTree>
    <p:extLst>
      <p:ext uri="{BB962C8B-B14F-4D97-AF65-F5344CB8AC3E}">
        <p14:creationId xmlns:p14="http://schemas.microsoft.com/office/powerpoint/2010/main" val="393134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fuentes</a:t>
            </a:r>
          </a:p>
        </p:txBody>
      </p:sp>
      <p:pic>
        <p:nvPicPr>
          <p:cNvPr id="13" name="Marcador de posición de imagen 12" descr="Una cordillera con nieve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hlinkClick r:id="rId4"/>
              </a:rPr>
              <a:t>Los 10 Mejores Lenguajes de Programación </a:t>
            </a:r>
            <a:r>
              <a:rPr lang="es-ES" dirty="0" err="1">
                <a:hlinkClick r:id="rId4"/>
              </a:rPr>
              <a:t>Frontend</a:t>
            </a:r>
            <a:r>
              <a:rPr lang="es-ES" dirty="0">
                <a:hlinkClick r:id="rId4"/>
              </a:rPr>
              <a:t> - Guía Completa</a:t>
            </a:r>
            <a:endParaRPr lang="es-ES" dirty="0"/>
          </a:p>
          <a:p>
            <a:r>
              <a:rPr lang="es-ES" dirty="0">
                <a:hlinkClick r:id="rId5"/>
              </a:rPr>
              <a:t>Los mejores lenguajes para el desarrollo </a:t>
            </a:r>
            <a:r>
              <a:rPr lang="es-ES" dirty="0" err="1">
                <a:hlinkClick r:id="rId5"/>
              </a:rPr>
              <a:t>front-end</a:t>
            </a:r>
            <a:r>
              <a:rPr lang="es-ES" dirty="0">
                <a:hlinkClick r:id="rId5"/>
              </a:rPr>
              <a:t> empresarial » Desarrollamos tu imaginación</a:t>
            </a:r>
            <a:endParaRPr lang="es-ES" dirty="0"/>
          </a:p>
          <a:p>
            <a:r>
              <a:rPr lang="es-ES" dirty="0">
                <a:hlinkClick r:id="rId6"/>
              </a:rPr>
              <a:t>Los 10 principales lenguajes de programación de </a:t>
            </a:r>
            <a:r>
              <a:rPr lang="es-ES" dirty="0" err="1">
                <a:hlinkClick r:id="rId6"/>
              </a:rPr>
              <a:t>frontend</a:t>
            </a:r>
            <a:endParaRPr lang="es-ES" dirty="0"/>
          </a:p>
          <a:p>
            <a:r>
              <a:rPr lang="es-ES" dirty="0">
                <a:hlinkClick r:id="rId7"/>
              </a:rPr>
              <a:t>Los 10 mejores lenguajes </a:t>
            </a:r>
            <a:r>
              <a:rPr lang="es-ES" dirty="0" err="1">
                <a:hlinkClick r:id="rId7"/>
              </a:rPr>
              <a:t>frontend</a:t>
            </a:r>
            <a:r>
              <a:rPr lang="es-ES" dirty="0">
                <a:hlinkClick r:id="rId7"/>
              </a:rPr>
              <a:t> | ¿Cuál es el mejor?</a:t>
            </a:r>
            <a:endParaRPr lang="es-ES" dirty="0"/>
          </a:p>
          <a:p>
            <a:r>
              <a:rPr lang="es-ES" dirty="0">
                <a:hlinkClick r:id="rId8"/>
              </a:rPr>
              <a:t>Ventajas y desventajas de </a:t>
            </a:r>
            <a:r>
              <a:rPr lang="es-ES" dirty="0" err="1">
                <a:hlinkClick r:id="rId8"/>
              </a:rPr>
              <a:t>Kotlin</a:t>
            </a:r>
            <a:r>
              <a:rPr lang="es-ES" dirty="0">
                <a:hlinkClick r:id="rId8"/>
              </a:rPr>
              <a:t> [2025] | </a:t>
            </a:r>
            <a:r>
              <a:rPr lang="es-ES" dirty="0" err="1">
                <a:hlinkClick r:id="rId8"/>
              </a:rPr>
              <a:t>KeepCoding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417" y="1097280"/>
            <a:ext cx="10002981" cy="413804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HERRAMIENTAS PARA TRABAJAR CON LENGUAJES DE PROGRAMACIÓN FRONT END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110" y="222710"/>
            <a:ext cx="3449164" cy="328110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EDITORES DE CÓDIGO Y ENTORNOS</a:t>
            </a:r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rtlCol="0">
            <a:normAutofit/>
          </a:bodyPr>
          <a:lstStyle>
            <a:defPPr>
              <a:defRPr lang="es-ES"/>
            </a:defPPr>
          </a:lstStyle>
          <a:p>
            <a:pPr marL="0" indent="0" rtl="0">
              <a:buNone/>
            </a:pPr>
            <a:r>
              <a:rPr lang="es-ES" dirty="0"/>
              <a:t>1.     </a:t>
            </a:r>
            <a:r>
              <a:rPr lang="es-ES" b="1" dirty="0"/>
              <a:t>VISUAL STUDIO CODE</a:t>
            </a:r>
          </a:p>
          <a:p>
            <a:pPr marL="0" indent="0">
              <a:buNone/>
            </a:pPr>
            <a:r>
              <a:rPr lang="es-ES" dirty="0"/>
              <a:t>Es el editor más popular para desarrollo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, gracias a sus extensiones, integración con Git y depurador.</a:t>
            </a:r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80160" y="3231472"/>
            <a:ext cx="4663440" cy="14415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2.     </a:t>
            </a:r>
            <a:r>
              <a:rPr lang="es-ES" b="1" dirty="0"/>
              <a:t>SUBLIME TEXT Y ATOM</a:t>
            </a:r>
          </a:p>
          <a:p>
            <a:r>
              <a:rPr lang="es-ES" dirty="0"/>
              <a:t>Otras opciones ligeras, rápidas y personalizables para editar código HTML, CSS, JavaScript y </a:t>
            </a:r>
            <a:r>
              <a:rPr lang="es-ES" dirty="0" err="1"/>
              <a:t>frameworks</a:t>
            </a:r>
            <a:r>
              <a:rPr lang="es-ES" dirty="0"/>
              <a:t> relacionados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B1E29D9-51C6-F700-EB27-77DA5E94E9B1}"/>
              </a:ext>
            </a:extLst>
          </p:cNvPr>
          <p:cNvSpPr/>
          <p:nvPr/>
        </p:nvSpPr>
        <p:spPr>
          <a:xfrm>
            <a:off x="6907876" y="3354185"/>
            <a:ext cx="3794957" cy="32811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Es una herramienta de software que permite </a:t>
            </a:r>
            <a:r>
              <a:rPr lang="es-ES" b="1" dirty="0">
                <a:solidFill>
                  <a:schemeClr val="tx1"/>
                </a:solidFill>
              </a:rPr>
              <a:t>escribir y editar código fuente </a:t>
            </a:r>
            <a:r>
              <a:rPr lang="es-ES" dirty="0">
                <a:solidFill>
                  <a:schemeClr val="tx1"/>
                </a:solidFill>
              </a:rPr>
              <a:t>de programas (como HTML). Mejora legibilidad, eficiencia y organización el código.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43E1A-A0F4-0B66-981F-3E53A1F0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451BBC4E-5794-61C3-7E3B-DD9175B19C93}"/>
              </a:ext>
            </a:extLst>
          </p:cNvPr>
          <p:cNvSpPr/>
          <p:nvPr/>
        </p:nvSpPr>
        <p:spPr>
          <a:xfrm>
            <a:off x="8853054" y="3721797"/>
            <a:ext cx="3013561" cy="26623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42237-BF4E-DDA7-F5B5-9D2559CC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523" y="-230725"/>
            <a:ext cx="4754880" cy="37947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FRAMEWORKS Y LIBRERÍAS</a:t>
            </a:r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D29BF480-1097-6806-D41A-C228B25ACB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4958" y="5052984"/>
            <a:ext cx="4663440" cy="14415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solidFill>
                  <a:schemeClr val="bg1"/>
                </a:solidFill>
              </a:rPr>
              <a:t>creación de interfaces interactivas y componentes reutilizables.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0004B5-6F49-2D84-17B7-DC0E1BE9A12D}"/>
              </a:ext>
            </a:extLst>
          </p:cNvPr>
          <p:cNvSpPr txBox="1"/>
          <p:nvPr/>
        </p:nvSpPr>
        <p:spPr>
          <a:xfrm>
            <a:off x="9244264" y="4037322"/>
            <a:ext cx="2231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 </a:t>
            </a:r>
            <a:r>
              <a:rPr lang="es-ES" sz="1800" dirty="0"/>
              <a:t>La</a:t>
            </a:r>
            <a:r>
              <a:rPr lang="es-ES" sz="1800" b="1" dirty="0"/>
              <a:t> librería </a:t>
            </a:r>
            <a:r>
              <a:rPr lang="es-ES" sz="1800" dirty="0"/>
              <a:t>te proporciona herramientas para una tarea.</a:t>
            </a:r>
          </a:p>
          <a:p>
            <a:pPr algn="ctr"/>
            <a:r>
              <a:rPr lang="es-ES" sz="1800" b="1" dirty="0"/>
              <a:t>Framework </a:t>
            </a:r>
            <a:r>
              <a:rPr lang="es-ES" sz="1800" dirty="0"/>
              <a:t>es una estructura de trabajo completa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9832A81-19C6-90C2-6EB4-437A57A859E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6923" y="1402800"/>
            <a:ext cx="5549061" cy="50917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b="1" dirty="0" err="1"/>
              <a:t>React</a:t>
            </a:r>
            <a:r>
              <a:rPr lang="es-ES" b="1" dirty="0"/>
              <a:t>, Vue.js, Angular, </a:t>
            </a:r>
            <a:r>
              <a:rPr lang="es-ES" b="1" dirty="0" err="1"/>
              <a:t>Svelte</a:t>
            </a:r>
            <a:r>
              <a:rPr lang="es-ES" dirty="0"/>
              <a:t>:</a:t>
            </a:r>
          </a:p>
          <a:p>
            <a:pPr marL="685800" lvl="1" indent="0">
              <a:buNone/>
            </a:pPr>
            <a:r>
              <a:rPr lang="es-ES" dirty="0"/>
              <a:t>Permiten crear interfaces de usuario dinámicas y estructuradas, facilitando el desarrollo de aplicaciones web sofisticadas.</a:t>
            </a:r>
          </a:p>
          <a:p>
            <a:pPr marL="685800" lvl="1" indent="0">
              <a:buNone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Bootstrap, </a:t>
            </a:r>
            <a:r>
              <a:rPr lang="es-ES" b="1" dirty="0" err="1"/>
              <a:t>Tailwind</a:t>
            </a:r>
            <a:r>
              <a:rPr lang="es-ES" b="1" dirty="0"/>
              <a:t> CSS, </a:t>
            </a:r>
            <a:r>
              <a:rPr lang="es-ES" b="1" dirty="0" err="1"/>
              <a:t>Materialize</a:t>
            </a:r>
            <a:r>
              <a:rPr lang="es-ES" dirty="0"/>
              <a:t>:</a:t>
            </a:r>
          </a:p>
          <a:p>
            <a:pPr marL="685800" lvl="1" indent="0">
              <a:buNone/>
            </a:pPr>
            <a:r>
              <a:rPr lang="es-ES" dirty="0" err="1"/>
              <a:t>Frameworks</a:t>
            </a:r>
            <a:r>
              <a:rPr lang="es-ES" dirty="0"/>
              <a:t> CSS para estilos visuales y diseño responsivo que agilizan la creación de páginas atractivas y funcionales.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Sass</a:t>
            </a:r>
            <a:r>
              <a:rPr lang="es-ES" dirty="0"/>
              <a:t>: </a:t>
            </a:r>
          </a:p>
          <a:p>
            <a:pPr marL="685800" lvl="1" indent="0">
              <a:buNone/>
            </a:pPr>
            <a:r>
              <a:rPr lang="es-ES" dirty="0"/>
              <a:t>Preprocesador de CSS que ayuda a escribir hojas de estilos más organizadas, eficientes y escalables.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6359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CC49-0391-73D8-5AC9-554A9A7C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FAAFC246-AEDA-E1FF-A7EF-268FCD840A23}"/>
              </a:ext>
            </a:extLst>
          </p:cNvPr>
          <p:cNvSpPr/>
          <p:nvPr/>
        </p:nvSpPr>
        <p:spPr>
          <a:xfrm>
            <a:off x="6996656" y="3721795"/>
            <a:ext cx="3013561" cy="26623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8BB4AB-4805-455C-F86B-DC16AC4A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435" y="369916"/>
            <a:ext cx="4363565" cy="266237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HERRAMIENTAS DE DISEÑO Y PROTOTIPADO</a:t>
            </a:r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FC8FEFC4-D37D-3D99-EB6C-9708C9095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4958" y="5052984"/>
            <a:ext cx="4663440" cy="14415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solidFill>
                  <a:schemeClr val="bg1"/>
                </a:solidFill>
              </a:rPr>
              <a:t>creación de interfaces interactivas y componentes reutilizables.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58E6A2-1F82-D1ED-18E8-CC0B82F78288}"/>
              </a:ext>
            </a:extLst>
          </p:cNvPr>
          <p:cNvSpPr txBox="1"/>
          <p:nvPr/>
        </p:nvSpPr>
        <p:spPr>
          <a:xfrm>
            <a:off x="7465340" y="4087198"/>
            <a:ext cx="22311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 Facilitan la creación de </a:t>
            </a:r>
            <a:r>
              <a:rPr lang="es-ES" b="1" dirty="0"/>
              <a:t>interfaces</a:t>
            </a:r>
            <a:r>
              <a:rPr lang="es-ES" dirty="0"/>
              <a:t> y la validación de ideas antes del desarrollo final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A2E21D-4A86-7057-29C6-3432F934F8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6923" y="1402800"/>
            <a:ext cx="5465935" cy="50917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b="1" dirty="0" err="1"/>
              <a:t>Figma</a:t>
            </a:r>
            <a:r>
              <a:rPr lang="es-ES" b="1" dirty="0"/>
              <a:t> y Adobe XD:</a:t>
            </a:r>
          </a:p>
          <a:p>
            <a:pPr marL="685800" lvl="1" indent="0">
              <a:buNone/>
            </a:pPr>
            <a:r>
              <a:rPr lang="es-ES" dirty="0"/>
              <a:t>Aplicaciones para diseñar interfaces, prototipos y colaborar con equipos de desarrollo. </a:t>
            </a:r>
          </a:p>
          <a:p>
            <a:pPr marL="685800" lvl="1" indent="0">
              <a:buNone/>
            </a:pPr>
            <a:endParaRPr lang="es-E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Frontend</a:t>
            </a:r>
            <a:r>
              <a:rPr lang="es-ES" b="1" dirty="0"/>
              <a:t> Mentor, </a:t>
            </a:r>
            <a:r>
              <a:rPr lang="es-ES" b="1" dirty="0" err="1"/>
              <a:t>Uiverse</a:t>
            </a:r>
            <a:r>
              <a:rPr lang="es-ES" b="1" dirty="0"/>
              <a:t>:</a:t>
            </a:r>
          </a:p>
          <a:p>
            <a:pPr marL="685800" lvl="1" indent="0">
              <a:buNone/>
            </a:pPr>
            <a:r>
              <a:rPr lang="es-ES" dirty="0"/>
              <a:t>Plataformas para crear, compartir y utilizar elementos comunes. También para practicar y obtener recursos de diseño </a:t>
            </a:r>
            <a:r>
              <a:rPr lang="es-ES" dirty="0" err="1"/>
              <a:t>frontend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2668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82271-22E1-04A0-2BEE-C3DDAF49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6051C23F-89E7-9481-2513-B05812D5029E}"/>
              </a:ext>
            </a:extLst>
          </p:cNvPr>
          <p:cNvSpPr/>
          <p:nvPr/>
        </p:nvSpPr>
        <p:spPr>
          <a:xfrm>
            <a:off x="8853054" y="3721797"/>
            <a:ext cx="3013561" cy="26623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E177E3-9B3B-2818-0B33-EE4B8069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197" y="473826"/>
            <a:ext cx="4754880" cy="204908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HERRAMIENTAS DE depuración y automatización</a:t>
            </a:r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AE3A6BC3-68E5-B7D8-3459-21A1AD00B9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4958" y="5052984"/>
            <a:ext cx="4663440" cy="14415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solidFill>
                  <a:schemeClr val="bg1"/>
                </a:solidFill>
              </a:rPr>
              <a:t>creación de interfaces interactivas y componentes reutilizables.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B86DE7-CE07-A051-2A87-8509F3193C7B}"/>
              </a:ext>
            </a:extLst>
          </p:cNvPr>
          <p:cNvSpPr txBox="1"/>
          <p:nvPr/>
        </p:nvSpPr>
        <p:spPr>
          <a:xfrm>
            <a:off x="9293012" y="4480560"/>
            <a:ext cx="22311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 Mejoran la calidad y eficiencia del desarrollo de software.</a:t>
            </a:r>
          </a:p>
          <a:p>
            <a:pPr algn="ctr"/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815DE4-2E01-64B7-F39D-F4D61CCB57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6923" y="1402800"/>
            <a:ext cx="5549061" cy="50917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b="1" dirty="0"/>
              <a:t>Chrome </a:t>
            </a:r>
            <a:r>
              <a:rPr lang="es-ES" b="1" dirty="0" err="1"/>
              <a:t>DevTools</a:t>
            </a:r>
            <a:r>
              <a:rPr lang="es-ES" b="1" dirty="0"/>
              <a:t>:</a:t>
            </a:r>
          </a:p>
          <a:p>
            <a:pPr marL="685800" lvl="1" indent="0">
              <a:buNone/>
            </a:pPr>
            <a:r>
              <a:rPr lang="es-ES" dirty="0"/>
              <a:t>Herramientas integradas en navegadores para analizar el rendimiento, depurar errores y optimizar código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. Limitado a Chrome.</a:t>
            </a:r>
          </a:p>
          <a:p>
            <a:pPr marL="685800" lvl="1" indent="0">
              <a:buNone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Webpack</a:t>
            </a:r>
            <a:r>
              <a:rPr lang="es-ES" b="1" dirty="0"/>
              <a:t>, Vite, </a:t>
            </a:r>
            <a:r>
              <a:rPr lang="es-ES" b="1" dirty="0" err="1"/>
              <a:t>Gulp</a:t>
            </a:r>
            <a:r>
              <a:rPr lang="es-ES" b="1" dirty="0"/>
              <a:t>, </a:t>
            </a:r>
            <a:r>
              <a:rPr lang="es-ES" b="1" dirty="0" err="1"/>
              <a:t>Parcel</a:t>
            </a:r>
            <a:r>
              <a:rPr lang="es-ES" b="1" dirty="0"/>
              <a:t>:</a:t>
            </a:r>
          </a:p>
          <a:p>
            <a:pPr marL="685800" lvl="1" indent="0">
              <a:buNone/>
            </a:pPr>
            <a:r>
              <a:rPr lang="es-ES" dirty="0"/>
              <a:t> Automatizan tareas como empaquetado, </a:t>
            </a:r>
            <a:r>
              <a:rPr lang="es-ES" dirty="0" err="1"/>
              <a:t>minificación</a:t>
            </a:r>
            <a:r>
              <a:rPr lang="es-ES" dirty="0"/>
              <a:t> y proceso de archivos en el flujo de trabajo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2911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F94A-FE79-F74D-BA54-562536D6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BEBDA7BB-E8A6-A76B-85D6-0EEAD158D24E}"/>
              </a:ext>
            </a:extLst>
          </p:cNvPr>
          <p:cNvSpPr/>
          <p:nvPr/>
        </p:nvSpPr>
        <p:spPr>
          <a:xfrm>
            <a:off x="8819803" y="3844184"/>
            <a:ext cx="3013561" cy="26623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5DBF30-8CB2-7A46-E92E-6EB8CD63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120" y="351439"/>
            <a:ext cx="4754880" cy="278476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0" dirty="0"/>
              <a:t>Control de versiones </a:t>
            </a:r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2AD72069-9212-CB98-8EDD-9726A4DB10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4958" y="5052984"/>
            <a:ext cx="4663440" cy="144153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solidFill>
                  <a:schemeClr val="bg1"/>
                </a:solidFill>
              </a:rPr>
              <a:t>creación de interfaces interactivas y componentes reutilizables.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1A0065-032A-A487-C8AA-DE22CA4546A1}"/>
              </a:ext>
            </a:extLst>
          </p:cNvPr>
          <p:cNvSpPr txBox="1"/>
          <p:nvPr/>
        </p:nvSpPr>
        <p:spPr>
          <a:xfrm>
            <a:off x="9293012" y="4480560"/>
            <a:ext cx="22311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Asegura la integridad de la información y facilita la </a:t>
            </a:r>
            <a:r>
              <a:rPr lang="es-ES" b="1" dirty="0"/>
              <a:t>colaboración</a:t>
            </a:r>
          </a:p>
          <a:p>
            <a:pPr algn="ctr"/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938434-2070-A25C-5B43-22D352BEBAB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6923" y="1402800"/>
            <a:ext cx="5549061" cy="153159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b="1" dirty="0"/>
              <a:t>Git y GitHub: </a:t>
            </a:r>
          </a:p>
          <a:p>
            <a:pPr marL="685800" lvl="1" indent="0">
              <a:buNone/>
            </a:pPr>
            <a:r>
              <a:rPr lang="es-ES" dirty="0"/>
              <a:t>Sistemas imprescindibles para controlar el historial del código, colaborar en proyectos y desplegar aplicaciones.</a:t>
            </a:r>
          </a:p>
          <a:p>
            <a:pPr marL="685800" lvl="1" indent="0">
              <a:buNone/>
            </a:pPr>
            <a:endParaRPr lang="es-ES" dirty="0"/>
          </a:p>
          <a:p>
            <a:pPr marL="685800" lvl="1" indent="0">
              <a:buNone/>
            </a:pPr>
            <a:endParaRPr lang="es-ES" dirty="0"/>
          </a:p>
        </p:txBody>
      </p:sp>
      <p:pic>
        <p:nvPicPr>
          <p:cNvPr id="1028" name="Picture 4" descr="bombilla 3d 18246162 PNG">
            <a:extLst>
              <a:ext uri="{FF2B5EF4-FFF2-40B4-BE49-F238E27FC236}">
                <a16:creationId xmlns:a16="http://schemas.microsoft.com/office/drawing/2014/main" id="{B0F0D63A-1195-3BB6-BFD3-7971F8C06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45" y="4355869"/>
            <a:ext cx="964275" cy="96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3D97433-E515-6B0F-A51D-8907A775B4FB}"/>
              </a:ext>
            </a:extLst>
          </p:cNvPr>
          <p:cNvSpPr txBox="1"/>
          <p:nvPr/>
        </p:nvSpPr>
        <p:spPr>
          <a:xfrm>
            <a:off x="1760019" y="4480560"/>
            <a:ext cx="4108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Git y </a:t>
            </a:r>
            <a:r>
              <a:rPr lang="es-ES" dirty="0" err="1"/>
              <a:t>Github</a:t>
            </a:r>
            <a:r>
              <a:rPr lang="es-ES" dirty="0"/>
              <a:t> tienen curva de aprendizaje, pero cuentan con comandos básicos como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,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y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0840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0570-DC8F-7117-25AA-0C3D5126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B64D4F7-8261-B411-F183-742EC6A3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fuentes</a:t>
            </a:r>
          </a:p>
        </p:txBody>
      </p:sp>
      <p:pic>
        <p:nvPicPr>
          <p:cNvPr id="13" name="Marcador de posición de imagen 12" descr="Una cordillera con nieve">
            <a:extLst>
              <a:ext uri="{FF2B5EF4-FFF2-40B4-BE49-F238E27FC236}">
                <a16:creationId xmlns:a16="http://schemas.microsoft.com/office/drawing/2014/main" id="{3A5E1F3F-5799-4544-785F-C32305E06C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0D1B30-B975-46F3-B184-4DE00328E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hlinkClick r:id="rId4"/>
              </a:rPr>
              <a:t>Qué es un editor de código y para qué sirve | Blog UE</a:t>
            </a:r>
            <a:endParaRPr lang="es-ES" dirty="0"/>
          </a:p>
          <a:p>
            <a:r>
              <a:rPr lang="es-ES" dirty="0">
                <a:hlinkClick r:id="rId5"/>
              </a:rPr>
              <a:t>Las 10 mejores herramientas de </a:t>
            </a:r>
            <a:r>
              <a:rPr lang="es-ES" dirty="0" err="1">
                <a:hlinkClick r:id="rId5"/>
              </a:rPr>
              <a:t>frontend</a:t>
            </a:r>
            <a:r>
              <a:rPr lang="es-ES" dirty="0">
                <a:hlinkClick r:id="rId5"/>
              </a:rPr>
              <a:t> para desarrolladores en 2025</a:t>
            </a:r>
            <a:r>
              <a:rPr lang="es-ES" dirty="0">
                <a:hlinkClick r:id="rId6"/>
              </a:rPr>
              <a:t>Los 10 principales lenguajes de programación de </a:t>
            </a:r>
            <a:r>
              <a:rPr lang="es-ES" dirty="0" err="1">
                <a:hlinkClick r:id="rId6"/>
              </a:rPr>
              <a:t>frontend</a:t>
            </a:r>
            <a:endParaRPr lang="es-ES" dirty="0"/>
          </a:p>
          <a:p>
            <a:r>
              <a:rPr lang="es-ES" dirty="0">
                <a:hlinkClick r:id="rId7"/>
              </a:rPr>
              <a:t>Herramientas básicas para comenzar como Desarrollador Front-</a:t>
            </a:r>
            <a:r>
              <a:rPr lang="es-ES" dirty="0" err="1">
                <a:hlinkClick r:id="rId7"/>
              </a:rPr>
              <a:t>End</a:t>
            </a:r>
            <a:r>
              <a:rPr lang="es-ES" dirty="0">
                <a:hlinkClick r:id="rId7"/>
              </a:rPr>
              <a:t> 🚀</a:t>
            </a:r>
            <a:endParaRPr lang="es-ES" dirty="0"/>
          </a:p>
          <a:p>
            <a:r>
              <a:rPr lang="es-ES" dirty="0">
                <a:hlinkClick r:id="rId8"/>
              </a:rPr>
              <a:t>Mejores </a:t>
            </a:r>
            <a:r>
              <a:rPr lang="es-ES" dirty="0" err="1">
                <a:hlinkClick r:id="rId8"/>
              </a:rPr>
              <a:t>frameworks</a:t>
            </a:r>
            <a:r>
              <a:rPr lang="es-ES" dirty="0">
                <a:hlinkClick r:id="rId8"/>
              </a:rPr>
              <a:t> de desarrollo web en 2025 – </a:t>
            </a:r>
            <a:r>
              <a:rPr lang="es-ES" dirty="0" err="1">
                <a:hlinkClick r:id="rId8"/>
              </a:rPr>
              <a:t>EstudiZeta</a:t>
            </a:r>
            <a:endParaRPr lang="es-ES" dirty="0"/>
          </a:p>
          <a:p>
            <a:r>
              <a:rPr lang="es-ES" dirty="0">
                <a:hlinkClick r:id="rId9"/>
              </a:rPr>
              <a:t>10 herramientas utilizadas en desarrollo </a:t>
            </a:r>
            <a:r>
              <a:rPr lang="es-ES" dirty="0" err="1">
                <a:hlinkClick r:id="rId9"/>
              </a:rPr>
              <a:t>front-end</a:t>
            </a:r>
            <a:r>
              <a:rPr lang="es-ES" dirty="0">
                <a:hlinkClick r:id="rId9"/>
              </a:rPr>
              <a:t> | Aira Blog</a:t>
            </a:r>
            <a:endParaRPr lang="es-ES" dirty="0"/>
          </a:p>
          <a:p>
            <a:r>
              <a:rPr lang="es-ES" dirty="0">
                <a:hlinkClick r:id="rId5"/>
              </a:rPr>
              <a:t>Las 10 mejores herramientas de </a:t>
            </a:r>
            <a:r>
              <a:rPr lang="es-ES" dirty="0" err="1">
                <a:hlinkClick r:id="rId5"/>
              </a:rPr>
              <a:t>frontend</a:t>
            </a:r>
            <a:r>
              <a:rPr lang="es-ES" dirty="0">
                <a:hlinkClick r:id="rId5"/>
              </a:rPr>
              <a:t> para desarrolladores en 2025</a:t>
            </a:r>
            <a:endParaRPr lang="es-ES" dirty="0"/>
          </a:p>
          <a:p>
            <a:r>
              <a:rPr lang="es-ES" dirty="0">
                <a:hlinkClick r:id="rId10"/>
              </a:rPr>
              <a:t>8 herramientas </a:t>
            </a:r>
            <a:r>
              <a:rPr lang="es-ES" dirty="0" err="1">
                <a:hlinkClick r:id="rId10"/>
              </a:rPr>
              <a:t>frontend</a:t>
            </a:r>
            <a:r>
              <a:rPr lang="es-ES" dirty="0">
                <a:hlinkClick r:id="rId10"/>
              </a:rPr>
              <a:t> para ser un mejor desarrollador</a:t>
            </a:r>
            <a:endParaRPr lang="es-ES" dirty="0"/>
          </a:p>
          <a:p>
            <a:r>
              <a:rPr lang="es-ES" dirty="0">
                <a:hlinkClick r:id="rId7"/>
              </a:rPr>
              <a:t>Herramientas básicas para comenzar como Desarrollador Front-</a:t>
            </a:r>
            <a:r>
              <a:rPr lang="es-ES" dirty="0" err="1">
                <a:hlinkClick r:id="rId7"/>
              </a:rPr>
              <a:t>End</a:t>
            </a:r>
            <a:r>
              <a:rPr lang="es-ES" dirty="0">
                <a:hlinkClick r:id="rId7"/>
              </a:rPr>
              <a:t> 🚀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073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5776285"/>
            <a:ext cx="9253727" cy="79183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 dirty="0"/>
              <a:t>COMPONENTES DE UN ENTORNO COMPLETO</a:t>
            </a:r>
          </a:p>
        </p:txBody>
      </p:sp>
      <p:sp>
        <p:nvSpPr>
          <p:cNvPr id="23" name="Marcador de contenido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Lenguaje base</a:t>
            </a:r>
          </a:p>
          <a:p>
            <a:pPr lvl="1" rtl="0"/>
            <a:r>
              <a:rPr lang="es-ES" dirty="0"/>
              <a:t>HTML, CSS, JAVASCRIPT</a:t>
            </a:r>
          </a:p>
          <a:p>
            <a:pPr rtl="0"/>
            <a:r>
              <a:rPr lang="es-ES" dirty="0"/>
              <a:t>Framework y librerías</a:t>
            </a:r>
          </a:p>
          <a:p>
            <a:pPr lvl="1" rtl="0"/>
            <a:r>
              <a:rPr lang="es-ES" dirty="0" err="1"/>
              <a:t>React</a:t>
            </a:r>
            <a:r>
              <a:rPr lang="es-ES" dirty="0"/>
              <a:t>, </a:t>
            </a:r>
            <a:r>
              <a:rPr lang="es-ES" dirty="0" err="1"/>
              <a:t>Vuejs</a:t>
            </a:r>
            <a:r>
              <a:rPr lang="es-ES" dirty="0"/>
              <a:t>, Angular</a:t>
            </a:r>
          </a:p>
          <a:p>
            <a:pPr lvl="1" rtl="0"/>
            <a:r>
              <a:rPr lang="es-ES" dirty="0"/>
              <a:t>Bootstrap, </a:t>
            </a:r>
            <a:r>
              <a:rPr lang="es-ES" dirty="0" err="1"/>
              <a:t>Tailwind</a:t>
            </a:r>
            <a:endParaRPr lang="es-ES" dirty="0"/>
          </a:p>
          <a:p>
            <a:pPr rtl="0"/>
            <a:r>
              <a:rPr lang="es-ES" dirty="0"/>
              <a:t>Editores de código</a:t>
            </a:r>
          </a:p>
          <a:p>
            <a:pPr lvl="1" rtl="0"/>
            <a:r>
              <a:rPr lang="es-ES" dirty="0"/>
              <a:t>Visual Studio </a:t>
            </a:r>
            <a:r>
              <a:rPr lang="es-ES" dirty="0" err="1"/>
              <a:t>Code</a:t>
            </a:r>
            <a:r>
              <a:rPr lang="es-ES" dirty="0"/>
              <a:t>, Sublime Text</a:t>
            </a:r>
          </a:p>
          <a:p>
            <a:pPr rtl="0"/>
            <a:r>
              <a:rPr lang="es-ES" dirty="0"/>
              <a:t>Control de versiones</a:t>
            </a:r>
          </a:p>
          <a:p>
            <a:pPr lvl="1" rtl="0"/>
            <a:r>
              <a:rPr lang="es-ES" dirty="0"/>
              <a:t>Git, GitHub</a:t>
            </a:r>
          </a:p>
          <a:p>
            <a:r>
              <a:rPr lang="es-ES" dirty="0" err="1"/>
              <a:t>Testing</a:t>
            </a:r>
            <a:r>
              <a:rPr lang="es-ES" dirty="0"/>
              <a:t> y depuración</a:t>
            </a:r>
          </a:p>
          <a:p>
            <a:pPr lvl="1"/>
            <a:r>
              <a:rPr lang="es-ES" dirty="0" err="1"/>
              <a:t>DevTools</a:t>
            </a:r>
            <a:endParaRPr lang="es-ES" dirty="0"/>
          </a:p>
          <a:p>
            <a:r>
              <a:rPr lang="es-ES" dirty="0"/>
              <a:t>Herramientas de construcción</a:t>
            </a:r>
          </a:p>
          <a:p>
            <a:pPr lvl="1"/>
            <a:r>
              <a:rPr lang="es-ES" dirty="0"/>
              <a:t>Vite, </a:t>
            </a:r>
            <a:r>
              <a:rPr lang="es-ES" dirty="0" err="1"/>
              <a:t>Parcel</a:t>
            </a:r>
            <a:r>
              <a:rPr lang="es-ES" dirty="0"/>
              <a:t>,</a:t>
            </a:r>
          </a:p>
          <a:p>
            <a:pPr rtl="0"/>
            <a:endParaRPr lang="es-ES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04755" y="685800"/>
            <a:ext cx="4937760" cy="402336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Diseño responsivo y de calidad</a:t>
            </a:r>
          </a:p>
          <a:p>
            <a:pPr lvl="1"/>
            <a:r>
              <a:rPr lang="es-ES" dirty="0"/>
              <a:t>Usable por todas las personas</a:t>
            </a:r>
          </a:p>
          <a:p>
            <a:pPr lvl="1"/>
            <a:r>
              <a:rPr lang="es-ES" dirty="0"/>
              <a:t>Funcione con todos los dispositivos</a:t>
            </a:r>
          </a:p>
          <a:p>
            <a:pPr rtl="0"/>
            <a:r>
              <a:rPr lang="es-ES" dirty="0"/>
              <a:t>Integración continua y despliegue</a:t>
            </a:r>
          </a:p>
          <a:p>
            <a:pPr lvl="1"/>
            <a:r>
              <a:rPr lang="es-ES" dirty="0"/>
              <a:t>Procesos automáticos para pruebas, construcción y despliegue de la web o app.</a:t>
            </a:r>
          </a:p>
          <a:p>
            <a:pPr rtl="0"/>
            <a:r>
              <a:rPr lang="es-ES" dirty="0"/>
              <a:t>Garantizar rendimiento y mantenibilidad</a:t>
            </a:r>
          </a:p>
          <a:p>
            <a:pPr rtl="0"/>
            <a:r>
              <a:rPr lang="es-ES" dirty="0"/>
              <a:t>Entorno seguro</a:t>
            </a:r>
          </a:p>
          <a:p>
            <a:pPr rtl="0"/>
            <a:r>
              <a:rPr lang="es-ES" dirty="0"/>
              <a:t>Excelente experiencia de usuario</a:t>
            </a:r>
          </a:p>
          <a:p>
            <a:r>
              <a:rPr lang="es-ES" dirty="0"/>
              <a:t>Código limpio y claro</a:t>
            </a:r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4B10-3C33-8D71-830B-C622219E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5D450459-6B2F-2663-D24E-520F49FE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fuentes</a:t>
            </a:r>
          </a:p>
        </p:txBody>
      </p:sp>
      <p:pic>
        <p:nvPicPr>
          <p:cNvPr id="13" name="Marcador de posición de imagen 12" descr="Una cordillera con nieve">
            <a:extLst>
              <a:ext uri="{FF2B5EF4-FFF2-40B4-BE49-F238E27FC236}">
                <a16:creationId xmlns:a16="http://schemas.microsoft.com/office/drawing/2014/main" id="{9B193CFC-1373-4DE5-DCC1-CE1A7F0C69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EF2655-D7AC-56DF-7A2C-8C0AB336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r>
              <a:rPr lang="es-ES" dirty="0" err="1">
                <a:hlinkClick r:id="rId4"/>
              </a:rPr>
              <a:t>apuntes:backend_frontend</a:t>
            </a:r>
            <a:r>
              <a:rPr lang="es-ES" dirty="0">
                <a:hlinkClick r:id="rId4"/>
              </a:rPr>
              <a:t> [Entornos de desarrollo]</a:t>
            </a:r>
            <a:endParaRPr lang="es-ES" dirty="0"/>
          </a:p>
          <a:p>
            <a:r>
              <a:rPr lang="es-ES" dirty="0" err="1">
                <a:hlinkClick r:id="rId5"/>
              </a:rPr>
              <a:t>Frontend</a:t>
            </a:r>
            <a:r>
              <a:rPr lang="es-ES" dirty="0">
                <a:hlinkClick r:id="rId5"/>
              </a:rPr>
              <a:t>: qué es y cómo convertirte en desarrollador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4311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Gracias</a:t>
            </a:r>
          </a:p>
        </p:txBody>
      </p:sp>
      <p:pic>
        <p:nvPicPr>
          <p:cNvPr id="5" name="Marcador de posición de imagen 14" descr="Montañas bajo un cielo casi al anochecer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Esperanza </a:t>
            </a:r>
            <a:r>
              <a:rPr lang="es-ES" dirty="0" err="1"/>
              <a:t>Jaenes</a:t>
            </a:r>
            <a:r>
              <a:rPr lang="es-ES" dirty="0"/>
              <a:t> Esteban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70_TF89338750_Win32" id="{E492AF64-DD59-444B-B710-ABE53F005779}" vid="{53C34969-EE9A-485C-9F8C-4E21061E05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{7065740A-62BF-465F-8B61-6FC7D94296BA}TF54b766f8-63ee-43b7-9d15-113a5f305028ba7eb754_win32-f97cbd76e99a</Template>
  <TotalTime>125</TotalTime>
  <Words>973</Words>
  <Application>Microsoft Office PowerPoint</Application>
  <PresentationFormat>Panorámica</PresentationFormat>
  <Paragraphs>136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Univers</vt:lpstr>
      <vt:lpstr>Wingdings</vt:lpstr>
      <vt:lpstr>GradientVTI</vt:lpstr>
      <vt:lpstr>Entornos de trabajo para el desarrollo web en cliente</vt:lpstr>
      <vt:lpstr>objetivos</vt:lpstr>
      <vt:lpstr>Lenguajes básicos </vt:lpstr>
      <vt:lpstr>Lenguajes complementarios</vt:lpstr>
      <vt:lpstr>Lenguajes para app móviles</vt:lpstr>
      <vt:lpstr>fuentes</vt:lpstr>
      <vt:lpstr>HERRAMIENTAS PARA TRABAJAR CON LENGUAJES DE PROGRAMACIÓN FRONT END</vt:lpstr>
      <vt:lpstr>EDITORES DE CÓDIGO Y ENTORNOS</vt:lpstr>
      <vt:lpstr>FRAMEWORKS Y LIBRERÍAS</vt:lpstr>
      <vt:lpstr>HERRAMIENTAS DE DISEÑO Y PROTOTIPADO</vt:lpstr>
      <vt:lpstr>HERRAMIENTAS DE depuración y automatización</vt:lpstr>
      <vt:lpstr>Control de versiones </vt:lpstr>
      <vt:lpstr>fuentes</vt:lpstr>
      <vt:lpstr>COMPONENTES DE UN ENTORNO COMPLETO</vt:lpstr>
      <vt:lpstr>fuentes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JAENES ESTEBAN, ESPERANZA</dc:creator>
  <cp:lastModifiedBy>JAENES ESTEBAN, ESPERANZA</cp:lastModifiedBy>
  <cp:revision>44</cp:revision>
  <dcterms:created xsi:type="dcterms:W3CDTF">2025-10-09T17:18:36Z</dcterms:created>
  <dcterms:modified xsi:type="dcterms:W3CDTF">2025-10-09T19:24:32Z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